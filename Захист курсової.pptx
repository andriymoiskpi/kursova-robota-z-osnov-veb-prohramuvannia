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58" r:id="rId5"/>
    <p:sldId id="259" r:id="rId6"/>
    <p:sldId id="267" r:id="rId7"/>
    <p:sldId id="268" r:id="rId8"/>
    <p:sldId id="269" r:id="rId9"/>
    <p:sldId id="260" r:id="rId10"/>
    <p:sldId id="270" r:id="rId11"/>
    <p:sldId id="271" r:id="rId12"/>
    <p:sldId id="272" r:id="rId13"/>
    <p:sldId id="273" r:id="rId14"/>
    <p:sldId id="261" r:id="rId15"/>
    <p:sldId id="262" r:id="rId16"/>
    <p:sldId id="263" r:id="rId17"/>
  </p:sldIdLst>
  <p:sldSz cx="12192000" cy="6858000"/>
  <p:notesSz cx="6858000" cy="9144000"/>
  <p:defaultTextStyle>
    <a:defPPr>
      <a:defRPr kern="0"/>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5" d="100"/>
          <a:sy n="95" d="100"/>
        </p:scale>
        <p:origin x="206"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Титульний слайд">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r>
              <a:rPr lang="uk-UA"/>
              <a:t>Зразок заголовка</a:t>
            </a:r>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r>
              <a:rPr lang="uk-UA"/>
              <a:t>Клацніть, щоб редагувати стиль зразка підзаголовка</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6298205-8E98-4351-9F1C-1DD4555500F7}" type="datetimeFigureOut">
              <a:rPr lang="en-US" smtClean="0"/>
              <a:t>5/19/2026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DB679FDD-8895-48C4-B134-F13FA7C2D74E}" type="slidenum">
              <a:rPr lang="en-US" smtClean="0"/>
              <a:t>‹№›</a:t>
            </a:fld>
            <a:endParaRPr lang="en-US"/>
          </a:p>
        </p:txBody>
      </p:sp>
    </p:spTree>
    <p:extLst>
      <p:ext uri="{BB962C8B-B14F-4D97-AF65-F5344CB8AC3E}">
        <p14:creationId xmlns:p14="http://schemas.microsoft.com/office/powerpoint/2010/main" val="2601445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і об’єкт">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176962"/>
            <a:ext cx="12192000" cy="681355"/>
          </a:xfrm>
          <a:custGeom>
            <a:avLst/>
            <a:gdLst/>
            <a:ahLst/>
            <a:cxnLst/>
            <a:rect l="l" t="t" r="r" b="b"/>
            <a:pathLst>
              <a:path w="12192000" h="681354">
                <a:moveTo>
                  <a:pt x="12192000" y="0"/>
                </a:moveTo>
                <a:lnTo>
                  <a:pt x="0" y="0"/>
                </a:lnTo>
                <a:lnTo>
                  <a:pt x="0" y="681037"/>
                </a:lnTo>
                <a:lnTo>
                  <a:pt x="12192000" y="681037"/>
                </a:lnTo>
                <a:lnTo>
                  <a:pt x="12192000" y="0"/>
                </a:lnTo>
                <a:close/>
              </a:path>
            </a:pathLst>
          </a:custGeom>
          <a:solidFill>
            <a:srgbClr val="1F3864"/>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234177" y="117594"/>
            <a:ext cx="924520" cy="1350068"/>
          </a:xfrm>
          <a:prstGeom prst="rect">
            <a:avLst/>
          </a:prstGeom>
        </p:spPr>
      </p:pic>
      <p:sp>
        <p:nvSpPr>
          <p:cNvPr id="2" name="Holder 2"/>
          <p:cNvSpPr>
            <a:spLocks noGrp="1"/>
          </p:cNvSpPr>
          <p:nvPr>
            <p:ph type="title"/>
          </p:nvPr>
        </p:nvSpPr>
        <p:spPr/>
        <p:txBody>
          <a:bodyPr lIns="0" tIns="0" rIns="0" bIns="0"/>
          <a:lstStyle>
            <a:lvl1pPr>
              <a:defRPr sz="3600" b="0" i="0">
                <a:solidFill>
                  <a:srgbClr val="1F3864"/>
                </a:solidFill>
                <a:latin typeface="Tahoma"/>
                <a:cs typeface="Tahoma"/>
              </a:defRPr>
            </a:lvl1pPr>
          </a:lstStyle>
          <a:p>
            <a:r>
              <a:rPr lang="uk-UA"/>
              <a:t>Зразок заголовка</a:t>
            </a:r>
            <a:endParaRPr/>
          </a:p>
        </p:txBody>
      </p:sp>
      <p:sp>
        <p:nvSpPr>
          <p:cNvPr id="3" name="Holder 3"/>
          <p:cNvSpPr>
            <a:spLocks noGrp="1"/>
          </p:cNvSpPr>
          <p:nvPr>
            <p:ph type="body" idx="1"/>
          </p:nvPr>
        </p:nvSpPr>
        <p:spPr/>
        <p:txBody>
          <a:bodyPr lIns="0" tIns="0" rIns="0" bIns="0"/>
          <a:lstStyle>
            <a:lvl1pPr>
              <a:defRPr sz="2000" b="0" i="0">
                <a:solidFill>
                  <a:schemeClr val="bg1"/>
                </a:solidFill>
                <a:latin typeface="Calibri"/>
                <a:cs typeface="Calibri"/>
              </a:defRPr>
            </a:lvl1pPr>
          </a:lstStyle>
          <a:p>
            <a:pPr lvl="0"/>
            <a:r>
              <a:rPr lang="uk-UA"/>
              <a:t>Редагувати стиль зразка тексту</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6298205-8E98-4351-9F1C-1DD4555500F7}" type="datetimeFigureOut">
              <a:rPr lang="en-US" smtClean="0"/>
              <a:t>5/19/2026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DB679FDD-8895-48C4-B134-F13FA7C2D74E}" type="slidenum">
              <a:rPr lang="en-US" smtClean="0"/>
              <a:t>‹№›</a:t>
            </a:fld>
            <a:endParaRPr lang="en-US"/>
          </a:p>
        </p:txBody>
      </p:sp>
    </p:spTree>
    <p:extLst>
      <p:ext uri="{BB962C8B-B14F-4D97-AF65-F5344CB8AC3E}">
        <p14:creationId xmlns:p14="http://schemas.microsoft.com/office/powerpoint/2010/main" val="3512094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Два об’єкти">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F3864"/>
                </a:solidFill>
                <a:latin typeface="Tahoma"/>
                <a:cs typeface="Tahoma"/>
              </a:defRPr>
            </a:lvl1pPr>
          </a:lstStyle>
          <a:p>
            <a:r>
              <a:rPr lang="uk-UA"/>
              <a:t>Зразок заголовка</a:t>
            </a:r>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pPr lvl="0"/>
            <a:r>
              <a:rPr lang="uk-UA"/>
              <a:t>Редагувати стиль зразка тексту</a:t>
            </a: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pPr lvl="0"/>
            <a:r>
              <a:rPr lang="uk-UA"/>
              <a:t>Редагувати стиль зразка тексту</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6298205-8E98-4351-9F1C-1DD4555500F7}" type="datetimeFigureOut">
              <a:rPr lang="en-US" smtClean="0"/>
              <a:t>5/19/2026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DB679FDD-8895-48C4-B134-F13FA7C2D74E}" type="slidenum">
              <a:rPr lang="en-US" smtClean="0"/>
              <a:t>‹№›</a:t>
            </a:fld>
            <a:endParaRPr lang="en-US"/>
          </a:p>
        </p:txBody>
      </p:sp>
    </p:spTree>
    <p:extLst>
      <p:ext uri="{BB962C8B-B14F-4D97-AF65-F5344CB8AC3E}">
        <p14:creationId xmlns:p14="http://schemas.microsoft.com/office/powerpoint/2010/main" val="1543015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Лише заголовок">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F3864"/>
                </a:solidFill>
                <a:latin typeface="Tahoma"/>
                <a:cs typeface="Tahoma"/>
              </a:defRPr>
            </a:lvl1pPr>
          </a:lstStyle>
          <a:p>
            <a:r>
              <a:rPr lang="uk-UA"/>
              <a:t>Зразок заголовка</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36298205-8E98-4351-9F1C-1DD4555500F7}" type="datetimeFigureOut">
              <a:rPr lang="en-US" smtClean="0"/>
              <a:t>5/19/2026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DB679FDD-8895-48C4-B134-F13FA7C2D74E}" type="slidenum">
              <a:rPr lang="en-US" smtClean="0"/>
              <a:t>‹№›</a:t>
            </a:fld>
            <a:endParaRPr lang="en-US"/>
          </a:p>
        </p:txBody>
      </p:sp>
    </p:spTree>
    <p:extLst>
      <p:ext uri="{BB962C8B-B14F-4D97-AF65-F5344CB8AC3E}">
        <p14:creationId xmlns:p14="http://schemas.microsoft.com/office/powerpoint/2010/main" val="1251751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Пустий слайд">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36298205-8E98-4351-9F1C-1DD4555500F7}" type="datetimeFigureOut">
              <a:rPr lang="en-US" smtClean="0"/>
              <a:t>5/19/2026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DB679FDD-8895-48C4-B134-F13FA7C2D74E}" type="slidenum">
              <a:rPr lang="en-US" smtClean="0"/>
              <a:t>‹№›</a:t>
            </a:fld>
            <a:endParaRPr lang="en-US"/>
          </a:p>
        </p:txBody>
      </p:sp>
    </p:spTree>
    <p:extLst>
      <p:ext uri="{BB962C8B-B14F-4D97-AF65-F5344CB8AC3E}">
        <p14:creationId xmlns:p14="http://schemas.microsoft.com/office/powerpoint/2010/main" val="138858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Титульни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uk-UA"/>
              <a:t>Зразок заголовка</a:t>
            </a:r>
            <a:endParaRPr lang="en-US"/>
          </a:p>
        </p:txBody>
      </p:sp>
      <p:sp>
        <p:nvSpPr>
          <p:cNvPr id="3" name="Пі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US"/>
          </a:p>
        </p:txBody>
      </p:sp>
      <p:sp>
        <p:nvSpPr>
          <p:cNvPr id="4" name="Місце для дати 3"/>
          <p:cNvSpPr>
            <a:spLocks noGrp="1"/>
          </p:cNvSpPr>
          <p:nvPr>
            <p:ph type="dt" sz="half" idx="10"/>
          </p:nvPr>
        </p:nvSpPr>
        <p:spPr/>
        <p:txBody>
          <a:bodyPr/>
          <a:lstStyle/>
          <a:p>
            <a:fld id="{36298205-8E98-4351-9F1C-1DD4555500F7}" type="datetimeFigureOut">
              <a:rPr lang="en-US" smtClean="0"/>
              <a:t>5/19/2026</a:t>
            </a:fld>
            <a:endParaRPr lang="en-US"/>
          </a:p>
        </p:txBody>
      </p:sp>
      <p:sp>
        <p:nvSpPr>
          <p:cNvPr id="5" name="Місце для нижнього колонтитула 4"/>
          <p:cNvSpPr>
            <a:spLocks noGrp="1"/>
          </p:cNvSpPr>
          <p:nvPr>
            <p:ph type="ftr" sz="quarter" idx="11"/>
          </p:nvPr>
        </p:nvSpPr>
        <p:spPr/>
        <p:txBody>
          <a:bodyPr/>
          <a:lstStyle/>
          <a:p>
            <a:endParaRPr lang="en-US"/>
          </a:p>
        </p:txBody>
      </p:sp>
      <p:sp>
        <p:nvSpPr>
          <p:cNvPr id="6" name="Місце для номера слайда 5"/>
          <p:cNvSpPr>
            <a:spLocks noGrp="1"/>
          </p:cNvSpPr>
          <p:nvPr>
            <p:ph type="sldNum" sz="quarter" idx="12"/>
          </p:nvPr>
        </p:nvSpPr>
        <p:spPr/>
        <p:txBody>
          <a:bodyPr/>
          <a:lstStyle/>
          <a:p>
            <a:fld id="{DB679FDD-8895-48C4-B134-F13FA7C2D74E}" type="slidenum">
              <a:rPr lang="en-US" smtClean="0"/>
              <a:t>‹№›</a:t>
            </a:fld>
            <a:endParaRPr lang="en-US"/>
          </a:p>
        </p:txBody>
      </p:sp>
    </p:spTree>
    <p:extLst>
      <p:ext uri="{BB962C8B-B14F-4D97-AF65-F5344CB8AC3E}">
        <p14:creationId xmlns:p14="http://schemas.microsoft.com/office/powerpoint/2010/main" val="748123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333413"/>
            <a:ext cx="12192000" cy="525145"/>
          </a:xfrm>
          <a:custGeom>
            <a:avLst/>
            <a:gdLst/>
            <a:ahLst/>
            <a:cxnLst/>
            <a:rect l="l" t="t" r="r" b="b"/>
            <a:pathLst>
              <a:path w="12192000" h="525145">
                <a:moveTo>
                  <a:pt x="12191936" y="0"/>
                </a:moveTo>
                <a:lnTo>
                  <a:pt x="0" y="0"/>
                </a:lnTo>
                <a:lnTo>
                  <a:pt x="0" y="524586"/>
                </a:lnTo>
                <a:lnTo>
                  <a:pt x="12191936" y="524586"/>
                </a:lnTo>
                <a:lnTo>
                  <a:pt x="12191936" y="0"/>
                </a:lnTo>
                <a:close/>
              </a:path>
            </a:pathLst>
          </a:custGeom>
          <a:solidFill>
            <a:srgbClr val="1C396E"/>
          </a:solidFill>
        </p:spPr>
        <p:txBody>
          <a:bodyPr wrap="square" lIns="0" tIns="0" rIns="0" bIns="0" rtlCol="0"/>
          <a:lstStyle/>
          <a:p>
            <a:endParaRPr/>
          </a:p>
        </p:txBody>
      </p:sp>
      <p:sp>
        <p:nvSpPr>
          <p:cNvPr id="17" name="bg object 17"/>
          <p:cNvSpPr/>
          <p:nvPr/>
        </p:nvSpPr>
        <p:spPr>
          <a:xfrm>
            <a:off x="0" y="6333401"/>
            <a:ext cx="12192000" cy="525145"/>
          </a:xfrm>
          <a:custGeom>
            <a:avLst/>
            <a:gdLst/>
            <a:ahLst/>
            <a:cxnLst/>
            <a:rect l="l" t="t" r="r" b="b"/>
            <a:pathLst>
              <a:path w="12192000" h="525145">
                <a:moveTo>
                  <a:pt x="0" y="0"/>
                </a:moveTo>
                <a:lnTo>
                  <a:pt x="12191936" y="0"/>
                </a:lnTo>
                <a:lnTo>
                  <a:pt x="12191936" y="524598"/>
                </a:lnTo>
              </a:path>
            </a:pathLst>
          </a:custGeom>
          <a:ln w="9525">
            <a:solidFill>
              <a:srgbClr val="1C396E"/>
            </a:solidFill>
          </a:ln>
        </p:spPr>
        <p:txBody>
          <a:bodyPr wrap="square" lIns="0" tIns="0" rIns="0" bIns="0" rtlCol="0"/>
          <a:lstStyle/>
          <a:p>
            <a:endParaRPr/>
          </a:p>
        </p:txBody>
      </p:sp>
      <p:sp>
        <p:nvSpPr>
          <p:cNvPr id="18" name="bg object 18"/>
          <p:cNvSpPr/>
          <p:nvPr/>
        </p:nvSpPr>
        <p:spPr>
          <a:xfrm>
            <a:off x="0" y="0"/>
            <a:ext cx="12192000" cy="1206500"/>
          </a:xfrm>
          <a:custGeom>
            <a:avLst/>
            <a:gdLst/>
            <a:ahLst/>
            <a:cxnLst/>
            <a:rect l="l" t="t" r="r" b="b"/>
            <a:pathLst>
              <a:path w="12192000" h="1206500">
                <a:moveTo>
                  <a:pt x="12191936" y="0"/>
                </a:moveTo>
                <a:lnTo>
                  <a:pt x="0" y="0"/>
                </a:lnTo>
                <a:lnTo>
                  <a:pt x="0" y="1206004"/>
                </a:lnTo>
                <a:lnTo>
                  <a:pt x="12191936" y="1206004"/>
                </a:lnTo>
                <a:lnTo>
                  <a:pt x="12191936" y="0"/>
                </a:lnTo>
                <a:close/>
              </a:path>
            </a:pathLst>
          </a:custGeom>
          <a:solidFill>
            <a:srgbClr val="1C396E"/>
          </a:solidFill>
        </p:spPr>
        <p:txBody>
          <a:bodyPr wrap="square" lIns="0" tIns="0" rIns="0" bIns="0" rtlCol="0"/>
          <a:lstStyle/>
          <a:p>
            <a:endParaRPr/>
          </a:p>
        </p:txBody>
      </p:sp>
      <p:sp>
        <p:nvSpPr>
          <p:cNvPr id="19" name="bg object 19"/>
          <p:cNvSpPr/>
          <p:nvPr/>
        </p:nvSpPr>
        <p:spPr>
          <a:xfrm>
            <a:off x="0" y="0"/>
            <a:ext cx="12192000" cy="1206500"/>
          </a:xfrm>
          <a:custGeom>
            <a:avLst/>
            <a:gdLst/>
            <a:ahLst/>
            <a:cxnLst/>
            <a:rect l="l" t="t" r="r" b="b"/>
            <a:pathLst>
              <a:path w="12192000" h="1206500">
                <a:moveTo>
                  <a:pt x="12191936" y="0"/>
                </a:moveTo>
                <a:lnTo>
                  <a:pt x="12191936" y="1205992"/>
                </a:lnTo>
                <a:lnTo>
                  <a:pt x="0" y="1205992"/>
                </a:lnTo>
              </a:path>
            </a:pathLst>
          </a:custGeom>
          <a:ln w="9525">
            <a:solidFill>
              <a:srgbClr val="0B5394"/>
            </a:solidFill>
          </a:ln>
        </p:spPr>
        <p:txBody>
          <a:bodyPr wrap="square" lIns="0" tIns="0" rIns="0" bIns="0" rtlCol="0"/>
          <a:lstStyle/>
          <a:p>
            <a:endParaRPr/>
          </a:p>
        </p:txBody>
      </p:sp>
      <p:pic>
        <p:nvPicPr>
          <p:cNvPr id="20" name="bg object 20"/>
          <p:cNvPicPr/>
          <p:nvPr/>
        </p:nvPicPr>
        <p:blipFill>
          <a:blip r:embed="rId8" cstate="print"/>
          <a:stretch>
            <a:fillRect/>
          </a:stretch>
        </p:blipFill>
        <p:spPr>
          <a:xfrm>
            <a:off x="107204" y="55999"/>
            <a:ext cx="731591" cy="1062425"/>
          </a:xfrm>
          <a:prstGeom prst="rect">
            <a:avLst/>
          </a:prstGeom>
        </p:spPr>
      </p:pic>
      <p:sp>
        <p:nvSpPr>
          <p:cNvPr id="2" name="Holder 2"/>
          <p:cNvSpPr>
            <a:spLocks noGrp="1"/>
          </p:cNvSpPr>
          <p:nvPr>
            <p:ph type="title"/>
          </p:nvPr>
        </p:nvSpPr>
        <p:spPr>
          <a:xfrm>
            <a:off x="1359229" y="158364"/>
            <a:ext cx="9473541" cy="1245870"/>
          </a:xfrm>
          <a:prstGeom prst="rect">
            <a:avLst/>
          </a:prstGeom>
        </p:spPr>
        <p:txBody>
          <a:bodyPr wrap="square" lIns="0" tIns="0" rIns="0" bIns="0">
            <a:spAutoFit/>
          </a:bodyPr>
          <a:lstStyle>
            <a:lvl1pPr>
              <a:defRPr sz="3600" b="0" i="0">
                <a:solidFill>
                  <a:srgbClr val="1F3864"/>
                </a:solidFill>
                <a:latin typeface="Tahoma"/>
                <a:cs typeface="Tahoma"/>
              </a:defRPr>
            </a:lvl1pPr>
          </a:lstStyle>
          <a:p>
            <a:endParaRPr/>
          </a:p>
        </p:txBody>
      </p:sp>
      <p:sp>
        <p:nvSpPr>
          <p:cNvPr id="3" name="Holder 3"/>
          <p:cNvSpPr>
            <a:spLocks noGrp="1"/>
          </p:cNvSpPr>
          <p:nvPr>
            <p:ph type="body" idx="1"/>
          </p:nvPr>
        </p:nvSpPr>
        <p:spPr>
          <a:xfrm>
            <a:off x="695289" y="1334694"/>
            <a:ext cx="10801421" cy="2847340"/>
          </a:xfrm>
          <a:prstGeom prst="rect">
            <a:avLst/>
          </a:prstGeom>
        </p:spPr>
        <p:txBody>
          <a:bodyPr wrap="square" lIns="0" tIns="0" rIns="0" bIns="0">
            <a:spAutoFit/>
          </a:bodyPr>
          <a:lstStyle>
            <a:lvl1pPr>
              <a:defRPr sz="2000" b="0" i="0">
                <a:solidFill>
                  <a:schemeClr val="bg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lang="en-US"/>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36298205-8E98-4351-9F1C-1DD4555500F7}" type="datetimeFigureOut">
              <a:rPr lang="en-US" smtClean="0"/>
              <a:t>5/19/2026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DB679FDD-8895-48C4-B134-F13FA7C2D74E}" type="slidenum">
              <a:rPr lang="en-US" smtClean="0"/>
              <a:t>‹№›</a:t>
            </a:fld>
            <a:endParaRPr lang="en-US"/>
          </a:p>
        </p:txBody>
      </p:sp>
    </p:spTree>
    <p:extLst>
      <p:ext uri="{BB962C8B-B14F-4D97-AF65-F5344CB8AC3E}">
        <p14:creationId xmlns:p14="http://schemas.microsoft.com/office/powerpoint/2010/main" val="2061308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25287" y="2903132"/>
            <a:ext cx="11661913" cy="3447098"/>
          </a:xfrm>
        </p:spPr>
        <p:txBody>
          <a:bodyPr/>
          <a:lstStyle/>
          <a:p>
            <a:br>
              <a:rPr lang="uk-UA" sz="4000" b="1" dirty="0"/>
            </a:br>
            <a:r>
              <a:rPr lang="uk-UA" sz="3600" b="1" dirty="0"/>
              <a:t>Веб калькулятор-довідник теплоенергетика</a:t>
            </a:r>
            <a:br>
              <a:rPr lang="uk-UA" sz="4000" b="1" dirty="0"/>
            </a:br>
            <a:r>
              <a:rPr lang="uk-UA" sz="3200" u="sng" dirty="0"/>
              <a:t>Виконав: </a:t>
            </a:r>
            <a:r>
              <a:rPr lang="uk-UA" sz="3200" dirty="0"/>
              <a:t>Мойсієнко Андрій Володимирович, ТВ-43</a:t>
            </a:r>
            <a:br>
              <a:rPr lang="uk-UA" sz="3200" dirty="0"/>
            </a:br>
            <a:r>
              <a:rPr lang="uk-UA" sz="3200" u="sng" dirty="0"/>
              <a:t>Перевірив:</a:t>
            </a:r>
            <a:r>
              <a:rPr lang="uk-UA" sz="4000" u="sng" dirty="0"/>
              <a:t> </a:t>
            </a:r>
            <a:r>
              <a:rPr lang="uk-UA" sz="3200" dirty="0"/>
              <a:t>Голець Владислав Олександрович</a:t>
            </a:r>
            <a:br>
              <a:rPr lang="uk-UA" sz="3200" dirty="0"/>
            </a:br>
            <a:r>
              <a:rPr lang="en-US" sz="1200" dirty="0"/>
              <a:t>GitHub </a:t>
            </a:r>
            <a:r>
              <a:rPr lang="uk-UA" sz="1200" dirty="0"/>
              <a:t>репозиторій </a:t>
            </a:r>
            <a:r>
              <a:rPr lang="en-US" sz="1200" dirty="0"/>
              <a:t>https://github.com/AndriyMoisKPI/Kursova-robota-z-osnov-Veb-prohramuvannia</a:t>
            </a:r>
            <a:br>
              <a:rPr lang="uk-UA" sz="3200" dirty="0"/>
            </a:br>
            <a:br>
              <a:rPr lang="uk-UA" sz="3200" dirty="0"/>
            </a:br>
            <a:r>
              <a:rPr lang="uk-UA" sz="3200" dirty="0"/>
              <a:t>2026</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6" name="TextBox 5"/>
          <p:cNvSpPr txBox="1"/>
          <p:nvPr/>
        </p:nvSpPr>
        <p:spPr>
          <a:xfrm>
            <a:off x="225288" y="1170603"/>
            <a:ext cx="11661912" cy="2062103"/>
          </a:xfrm>
          <a:prstGeom prst="rect">
            <a:avLst/>
          </a:prstGeom>
          <a:noFill/>
        </p:spPr>
        <p:txBody>
          <a:bodyPr wrap="square" rtlCol="0">
            <a:spAutoFit/>
          </a:bodyPr>
          <a:lstStyle/>
          <a:p>
            <a:pPr algn="ctr"/>
            <a:r>
              <a:rPr lang="uk-UA" sz="3200" dirty="0">
                <a:solidFill>
                  <a:srgbClr val="002060"/>
                </a:solidFill>
              </a:rPr>
              <a:t>Навчально-науковий інститут атомної та теплової енергетики</a:t>
            </a:r>
          </a:p>
          <a:p>
            <a:pPr algn="ctr"/>
            <a:r>
              <a:rPr lang="uk-UA" sz="3200" dirty="0">
                <a:solidFill>
                  <a:srgbClr val="002060"/>
                </a:solidFill>
              </a:rPr>
              <a:t>Кафедра інженерії програмного забезпечення в енергетиці</a:t>
            </a:r>
          </a:p>
          <a:p>
            <a:pPr algn="ctr"/>
            <a:r>
              <a:rPr lang="uk-UA" sz="3200" b="1" dirty="0">
                <a:solidFill>
                  <a:srgbClr val="002060"/>
                </a:solidFill>
              </a:rPr>
              <a:t>Основи Веб-програмування. Курсова робота</a:t>
            </a:r>
          </a:p>
        </p:txBody>
      </p:sp>
      <p:sp>
        <p:nvSpPr>
          <p:cNvPr id="3" name="TextBox 2"/>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1/16</a:t>
            </a:r>
          </a:p>
        </p:txBody>
      </p:sp>
    </p:spTree>
    <p:extLst>
      <p:ext uri="{BB962C8B-B14F-4D97-AF65-F5344CB8AC3E}">
        <p14:creationId xmlns:p14="http://schemas.microsoft.com/office/powerpoint/2010/main" val="768859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058432"/>
            <a:ext cx="9144000" cy="1846659"/>
          </a:xfrm>
        </p:spPr>
        <p:txBody>
          <a:bodyPr/>
          <a:lstStyle/>
          <a:p>
            <a:r>
              <a:rPr lang="uk-UA" dirty="0">
                <a:solidFill>
                  <a:srgbClr val="002060"/>
                </a:solidFill>
              </a:rPr>
              <a:t>Актуальність теми</a:t>
            </a:r>
            <a:br>
              <a:rPr lang="uk-UA" dirty="0">
                <a:solidFill>
                  <a:srgbClr val="002060"/>
                </a:solidFill>
              </a:rPr>
            </a:br>
            <a:endParaRPr lang="uk-UA" dirty="0"/>
          </a:p>
        </p:txBody>
      </p:sp>
      <p:sp>
        <p:nvSpPr>
          <p:cNvPr id="3" name="Підзаголовок 2"/>
          <p:cNvSpPr>
            <a:spLocks noGrp="1"/>
          </p:cNvSpPr>
          <p:nvPr>
            <p:ph type="subTitle" idx="1"/>
          </p:nvPr>
        </p:nvSpPr>
        <p:spPr>
          <a:xfrm>
            <a:off x="268705" y="1699936"/>
            <a:ext cx="11654590" cy="4008790"/>
          </a:xfrm>
        </p:spPr>
        <p:txBody>
          <a:bodyPr/>
          <a:lstStyle/>
          <a:p>
            <a:pPr>
              <a:spcBef>
                <a:spcPts val="300"/>
              </a:spcBef>
            </a:pPr>
            <a:endParaRPr lang="uk-UA" sz="1800" dirty="0">
              <a:solidFill>
                <a:srgbClr val="002060"/>
              </a:solidFill>
            </a:endParaRPr>
          </a:p>
          <a:p>
            <a:pPr algn="just">
              <a:spcBef>
                <a:spcPts val="300"/>
              </a:spcBef>
            </a:pPr>
            <a:r>
              <a:rPr lang="uk-UA" sz="1500" dirty="0">
                <a:solidFill>
                  <a:srgbClr val="002060"/>
                </a:solidFill>
              </a:rPr>
              <a:t>Курсова робота присвячена розробці вебзастосунку «Теплоенергетик», призначеного для виконання теплоенергетичних розрахунків, збереження історії результатів, створення проєктів та експорту даних у зручних форматах.</a:t>
            </a:r>
          </a:p>
          <a:p>
            <a:pPr algn="just">
              <a:spcBef>
                <a:spcPts val="300"/>
              </a:spcBef>
            </a:pPr>
            <a:r>
              <a:rPr lang="uk-UA" sz="1500" b="1" dirty="0">
                <a:solidFill>
                  <a:srgbClr val="002060"/>
                </a:solidFill>
              </a:rPr>
              <a:t>Основна задача роботи </a:t>
            </a:r>
            <a:r>
              <a:rPr lang="uk-UA" sz="1500" dirty="0">
                <a:solidFill>
                  <a:srgbClr val="002060"/>
                </a:solidFill>
              </a:rPr>
              <a:t>— створення зручної платформи для студентів, інженерів і користувачів, які працюють із теплотехнічними формулами, параметрами теплообміну, теплопровідності, води й пари, палива, газових процесів та теплових машин.</a:t>
            </a:r>
          </a:p>
          <a:p>
            <a:pPr algn="just">
              <a:spcBef>
                <a:spcPts val="300"/>
              </a:spcBef>
            </a:pPr>
            <a:r>
              <a:rPr lang="uk-UA" sz="1500" b="1" dirty="0">
                <a:solidFill>
                  <a:srgbClr val="002060"/>
                </a:solidFill>
              </a:rPr>
              <a:t>Значення теми для галузі інженерії програмного забезпечення:</a:t>
            </a:r>
          </a:p>
          <a:p>
            <a:pPr algn="just">
              <a:spcBef>
                <a:spcPts val="300"/>
              </a:spcBef>
            </a:pPr>
            <a:r>
              <a:rPr lang="uk-UA" sz="1500" dirty="0">
                <a:solidFill>
                  <a:srgbClr val="002060"/>
                </a:solidFill>
              </a:rPr>
              <a:t>Розробка спеціалізованих </a:t>
            </a:r>
            <a:r>
              <a:rPr lang="uk-UA" sz="1500" dirty="0" err="1">
                <a:solidFill>
                  <a:srgbClr val="002060"/>
                </a:solidFill>
              </a:rPr>
              <a:t>вебзастосунків</a:t>
            </a:r>
            <a:r>
              <a:rPr lang="uk-UA" sz="1500" dirty="0">
                <a:solidFill>
                  <a:srgbClr val="002060"/>
                </a:solidFill>
              </a:rPr>
              <a:t> є важливою для галузі інженерії програмного забезпечення, оскільки демонструє практичне застосування сучасних </a:t>
            </a:r>
            <a:r>
              <a:rPr lang="uk-UA" sz="1500" dirty="0" err="1">
                <a:solidFill>
                  <a:srgbClr val="002060"/>
                </a:solidFill>
              </a:rPr>
              <a:t>вебтехнологій</a:t>
            </a:r>
            <a:r>
              <a:rPr lang="uk-UA" sz="1500" dirty="0">
                <a:solidFill>
                  <a:srgbClr val="002060"/>
                </a:solidFill>
              </a:rPr>
              <a:t> для вирішення прикладних інженерних задач. Вебзастосунок «Теплоенергетик» поєднує клієнтський інтерфейс, базу даних, авторизацію користувачів, збереження результатів, експорт даних і персоналізацію профілю. Це підкреслює значення зручності користування, безпеки даних та інтеграції сторонніх сервісів у сучасних програмних системах.</a:t>
            </a:r>
          </a:p>
          <a:p>
            <a:pPr algn="just">
              <a:spcBef>
                <a:spcPts val="300"/>
              </a:spcBef>
            </a:pPr>
            <a:r>
              <a:rPr lang="uk-UA" sz="1500" b="1" dirty="0">
                <a:solidFill>
                  <a:srgbClr val="002060"/>
                </a:solidFill>
              </a:rPr>
              <a:t>Мета роботи: </a:t>
            </a:r>
            <a:r>
              <a:rPr lang="uk-UA" sz="1500" dirty="0">
                <a:solidFill>
                  <a:srgbClr val="002060"/>
                </a:solidFill>
              </a:rPr>
              <a:t>Розробити функціональний та зручний вебзастосунок для виконання теплоенергетичних розрахунків, збереження історії, створення проєктів і роботи з персональним профілем користувача.</a:t>
            </a:r>
          </a:p>
          <a:p>
            <a:pPr algn="just">
              <a:spcBef>
                <a:spcPts val="300"/>
              </a:spcBef>
            </a:pPr>
            <a:r>
              <a:rPr lang="uk-UA" sz="1500" b="1" dirty="0">
                <a:solidFill>
                  <a:srgbClr val="002060"/>
                </a:solidFill>
              </a:rPr>
              <a:t>Предмет роботи: </a:t>
            </a:r>
            <a:r>
              <a:rPr lang="uk-UA" sz="1500" dirty="0">
                <a:solidFill>
                  <a:srgbClr val="002060"/>
                </a:solidFill>
              </a:rPr>
              <a:t>Процеси проєктування та розробки вебзастосунку, включаючи створення інтерфейсу, реалізацію калькуляторів, роботу з базою даних, авторизацію користувачів, журнал розрахунків, проєкти та експорт результатів.</a:t>
            </a:r>
          </a:p>
          <a:p>
            <a:pPr algn="just">
              <a:spcBef>
                <a:spcPts val="300"/>
              </a:spcBef>
            </a:pPr>
            <a:r>
              <a:rPr lang="uk-UA" sz="1500" b="1" dirty="0">
                <a:solidFill>
                  <a:srgbClr val="002060"/>
                </a:solidFill>
              </a:rPr>
              <a:t>Об’єкт роботи: </a:t>
            </a:r>
            <a:r>
              <a:rPr lang="uk-UA" sz="1500" dirty="0">
                <a:solidFill>
                  <a:srgbClr val="002060"/>
                </a:solidFill>
              </a:rPr>
              <a:t>Вебзастосунок «Теплоенергетик», реалізований з використанням </a:t>
            </a:r>
            <a:r>
              <a:rPr lang="en-US" sz="1500" dirty="0">
                <a:solidFill>
                  <a:srgbClr val="002060"/>
                </a:solidFill>
              </a:rPr>
              <a:t>HTML, CSS, JavaScript, Bootstrap, Chart.js, </a:t>
            </a:r>
            <a:r>
              <a:rPr lang="en-US" sz="1500" dirty="0" err="1">
                <a:solidFill>
                  <a:srgbClr val="002060"/>
                </a:solidFill>
              </a:rPr>
              <a:t>Supabase</a:t>
            </a:r>
            <a:r>
              <a:rPr lang="en-US" sz="1500" dirty="0">
                <a:solidFill>
                  <a:srgbClr val="002060"/>
                </a:solidFill>
              </a:rPr>
              <a:t> Auth, </a:t>
            </a:r>
            <a:r>
              <a:rPr lang="en-US" sz="1500" dirty="0" err="1">
                <a:solidFill>
                  <a:srgbClr val="002060"/>
                </a:solidFill>
              </a:rPr>
              <a:t>Supabase</a:t>
            </a:r>
            <a:r>
              <a:rPr lang="en-US" sz="1500" dirty="0">
                <a:solidFill>
                  <a:srgbClr val="002060"/>
                </a:solidFill>
              </a:rPr>
              <a:t> Database </a:t>
            </a:r>
            <a:r>
              <a:rPr lang="uk-UA" sz="1500" dirty="0">
                <a:solidFill>
                  <a:srgbClr val="002060"/>
                </a:solidFill>
              </a:rPr>
              <a:t>та </a:t>
            </a:r>
            <a:r>
              <a:rPr lang="en-US" sz="1500" dirty="0" err="1">
                <a:solidFill>
                  <a:srgbClr val="002060"/>
                </a:solidFill>
              </a:rPr>
              <a:t>Supabase</a:t>
            </a:r>
            <a:r>
              <a:rPr lang="en-US" sz="1500" dirty="0">
                <a:solidFill>
                  <a:srgbClr val="002060"/>
                </a:solidFill>
              </a:rPr>
              <a:t> Edge Function </a:t>
            </a:r>
            <a:r>
              <a:rPr lang="uk-UA" sz="1500" dirty="0">
                <a:solidFill>
                  <a:srgbClr val="002060"/>
                </a:solidFill>
              </a:rPr>
              <a:t>для повного видалення акаунта.</a:t>
            </a:r>
          </a:p>
        </p:txBody>
      </p:sp>
      <p:sp>
        <p:nvSpPr>
          <p:cNvPr id="4" name="TextBox 3"/>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2/16</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Tree>
    <p:extLst>
      <p:ext uri="{BB962C8B-B14F-4D97-AF65-F5344CB8AC3E}">
        <p14:creationId xmlns:p14="http://schemas.microsoft.com/office/powerpoint/2010/main" val="2846788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034391"/>
            <a:ext cx="9144000" cy="1846659"/>
          </a:xfrm>
        </p:spPr>
        <p:txBody>
          <a:bodyPr/>
          <a:lstStyle/>
          <a:p>
            <a:r>
              <a:rPr lang="uk-UA" dirty="0">
                <a:solidFill>
                  <a:srgbClr val="002060"/>
                </a:solidFill>
              </a:rPr>
              <a:t>Постановка задачі</a:t>
            </a:r>
            <a:br>
              <a:rPr lang="uk-UA" dirty="0">
                <a:solidFill>
                  <a:srgbClr val="002060"/>
                </a:solidFill>
              </a:rPr>
            </a:br>
            <a:endParaRPr lang="uk-UA" dirty="0"/>
          </a:p>
        </p:txBody>
      </p:sp>
      <p:sp>
        <p:nvSpPr>
          <p:cNvPr id="4" name="TextBox 3"/>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3/16</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8" name="Підзаголовок 2">
            <a:extLst>
              <a:ext uri="{FF2B5EF4-FFF2-40B4-BE49-F238E27FC236}">
                <a16:creationId xmlns:a16="http://schemas.microsoft.com/office/drawing/2014/main" id="{493B5E53-B923-F09F-207F-F78C20159F85}"/>
              </a:ext>
            </a:extLst>
          </p:cNvPr>
          <p:cNvSpPr>
            <a:spLocks noGrp="1"/>
          </p:cNvSpPr>
          <p:nvPr>
            <p:ph type="subTitle" idx="1"/>
          </p:nvPr>
        </p:nvSpPr>
        <p:spPr>
          <a:xfrm>
            <a:off x="268705" y="1642272"/>
            <a:ext cx="11654590" cy="4547399"/>
          </a:xfrm>
        </p:spPr>
        <p:txBody>
          <a:bodyPr/>
          <a:lstStyle/>
          <a:p>
            <a:endParaRPr lang="uk-UA" sz="1800" dirty="0">
              <a:solidFill>
                <a:srgbClr val="002060"/>
              </a:solidFill>
            </a:endParaRPr>
          </a:p>
          <a:p>
            <a:pPr algn="just">
              <a:spcAft>
                <a:spcPts val="300"/>
              </a:spcAft>
            </a:pPr>
            <a:r>
              <a:rPr lang="uk-UA" sz="1500" dirty="0">
                <a:solidFill>
                  <a:srgbClr val="002060"/>
                </a:solidFill>
              </a:rPr>
              <a:t>Для досягнення мети курсової роботи потрібно було розробити вебзастосунок «Теплоенергетик», який дозволяє виконувати теплоенергетичні розрахунки, зберігати результати та працювати з ними в особистому кабінеті.</a:t>
            </a:r>
          </a:p>
          <a:p>
            <a:pPr algn="just">
              <a:spcAft>
                <a:spcPts val="300"/>
              </a:spcAft>
            </a:pPr>
            <a:r>
              <a:rPr lang="uk-UA" sz="1500" b="1" dirty="0">
                <a:solidFill>
                  <a:srgbClr val="002060"/>
                </a:solidFill>
              </a:rPr>
              <a:t>Основні задачі роботи: </a:t>
            </a:r>
          </a:p>
          <a:p>
            <a:pPr algn="just">
              <a:spcAft>
                <a:spcPts val="300"/>
              </a:spcAft>
            </a:pPr>
            <a:r>
              <a:rPr lang="uk-UA" sz="1500" b="1" dirty="0">
                <a:solidFill>
                  <a:srgbClr val="002060"/>
                </a:solidFill>
              </a:rPr>
              <a:t>Реєстрація та авторизація користувачів: </a:t>
            </a:r>
            <a:r>
              <a:rPr lang="uk-UA" sz="1500" dirty="0">
                <a:solidFill>
                  <a:srgbClr val="002060"/>
                </a:solidFill>
              </a:rPr>
              <a:t>Реалізувати створення облікових записів, вхід через </a:t>
            </a:r>
            <a:r>
              <a:rPr lang="en-US" sz="1500" dirty="0">
                <a:solidFill>
                  <a:srgbClr val="002060"/>
                </a:solidFill>
              </a:rPr>
              <a:t>email </a:t>
            </a:r>
            <a:r>
              <a:rPr lang="uk-UA" sz="1500" dirty="0">
                <a:solidFill>
                  <a:srgbClr val="002060"/>
                </a:solidFill>
              </a:rPr>
              <a:t>або </a:t>
            </a:r>
            <a:r>
              <a:rPr lang="uk-UA" sz="1500" dirty="0" err="1">
                <a:solidFill>
                  <a:srgbClr val="002060"/>
                </a:solidFill>
              </a:rPr>
              <a:t>нікнейм</a:t>
            </a:r>
            <a:r>
              <a:rPr lang="uk-UA" sz="1500" dirty="0">
                <a:solidFill>
                  <a:srgbClr val="002060"/>
                </a:solidFill>
              </a:rPr>
              <a:t>, перевірку введених даних, повідомлення про помилки та відновлення пароля через електронну пошту.</a:t>
            </a:r>
          </a:p>
          <a:p>
            <a:pPr algn="just">
              <a:spcAft>
                <a:spcPts val="300"/>
              </a:spcAft>
            </a:pPr>
            <a:r>
              <a:rPr lang="uk-UA" sz="1500" b="1" dirty="0">
                <a:solidFill>
                  <a:srgbClr val="002060"/>
                </a:solidFill>
              </a:rPr>
              <a:t>Управління профілем: </a:t>
            </a:r>
            <a:r>
              <a:rPr lang="uk-UA" sz="1500" dirty="0">
                <a:solidFill>
                  <a:srgbClr val="002060"/>
                </a:solidFill>
              </a:rPr>
              <a:t>Надати користувачу можливість змінювати </a:t>
            </a:r>
            <a:r>
              <a:rPr lang="uk-UA" sz="1500" dirty="0" err="1">
                <a:solidFill>
                  <a:srgbClr val="002060"/>
                </a:solidFill>
              </a:rPr>
              <a:t>нікнейм</a:t>
            </a:r>
            <a:r>
              <a:rPr lang="uk-UA" sz="1500" dirty="0">
                <a:solidFill>
                  <a:srgbClr val="002060"/>
                </a:solidFill>
              </a:rPr>
              <a:t>, аватар, пароль, тему оформлення, колірну схему та розмір шрифту. Також реалізувати повне видалення акаунта.</a:t>
            </a:r>
          </a:p>
          <a:p>
            <a:pPr algn="just">
              <a:spcAft>
                <a:spcPts val="300"/>
              </a:spcAft>
            </a:pPr>
            <a:r>
              <a:rPr lang="uk-UA" sz="1500" b="1" dirty="0">
                <a:solidFill>
                  <a:srgbClr val="002060"/>
                </a:solidFill>
              </a:rPr>
              <a:t>Теплоенергетичні розрахунки: </a:t>
            </a:r>
            <a:r>
              <a:rPr lang="uk-UA" sz="1500" dirty="0">
                <a:solidFill>
                  <a:srgbClr val="002060"/>
                </a:solidFill>
              </a:rPr>
              <a:t>Створити набір калькуляторів для розрахунків у розділах теплової енергії, теплообміну, теплопровідності, води й пари, палива, газових процесів та теплових машин.</a:t>
            </a:r>
          </a:p>
          <a:p>
            <a:pPr algn="just">
              <a:spcAft>
                <a:spcPts val="300"/>
              </a:spcAft>
            </a:pPr>
            <a:r>
              <a:rPr lang="uk-UA" sz="1500" b="1" dirty="0">
                <a:solidFill>
                  <a:srgbClr val="002060"/>
                </a:solidFill>
              </a:rPr>
              <a:t>Журнал розрахунків: </a:t>
            </a:r>
            <a:r>
              <a:rPr lang="uk-UA" sz="1500" dirty="0">
                <a:solidFill>
                  <a:srgbClr val="002060"/>
                </a:solidFill>
              </a:rPr>
              <a:t>Реалізувати збереження історії розрахунків із можливістю пошуку, фільтрації, перегляду деталей, видалення записів та експорту даних.</a:t>
            </a:r>
          </a:p>
          <a:p>
            <a:pPr algn="just">
              <a:spcAft>
                <a:spcPts val="300"/>
              </a:spcAft>
            </a:pPr>
            <a:r>
              <a:rPr lang="uk-UA" sz="1500" b="1" dirty="0">
                <a:solidFill>
                  <a:srgbClr val="002060"/>
                </a:solidFill>
              </a:rPr>
              <a:t>Робота з проєктами: </a:t>
            </a:r>
            <a:r>
              <a:rPr lang="uk-UA" sz="1500" dirty="0">
                <a:solidFill>
                  <a:srgbClr val="002060"/>
                </a:solidFill>
              </a:rPr>
              <a:t>Додати можливість створювати проєкти, обирати тематику, додавати нотатки й розрахунки, а також змінювати порядок елементів перетягуванням.</a:t>
            </a:r>
          </a:p>
          <a:p>
            <a:pPr algn="just">
              <a:spcAft>
                <a:spcPts val="300"/>
              </a:spcAft>
            </a:pPr>
            <a:r>
              <a:rPr lang="uk-UA" sz="1500" b="1" dirty="0">
                <a:solidFill>
                  <a:srgbClr val="002060"/>
                </a:solidFill>
              </a:rPr>
              <a:t>Довідник: </a:t>
            </a:r>
            <a:r>
              <a:rPr lang="uk-UA" sz="1500" dirty="0">
                <a:solidFill>
                  <a:srgbClr val="002060"/>
                </a:solidFill>
              </a:rPr>
              <a:t>Створити довідковий розділ із формулами, константами, властивостями матеріалів, одиницями вимірювання та пошуком.</a:t>
            </a:r>
          </a:p>
          <a:p>
            <a:pPr algn="just">
              <a:spcAft>
                <a:spcPts val="300"/>
              </a:spcAft>
            </a:pPr>
            <a:r>
              <a:rPr lang="uk-UA" sz="1500" b="1" dirty="0">
                <a:solidFill>
                  <a:srgbClr val="002060"/>
                </a:solidFill>
              </a:rPr>
              <a:t>Адміністрування: </a:t>
            </a:r>
            <a:r>
              <a:rPr lang="uk-UA" sz="1500" dirty="0">
                <a:solidFill>
                  <a:srgbClr val="002060"/>
                </a:solidFill>
              </a:rPr>
              <a:t>Розробити </a:t>
            </a:r>
            <a:r>
              <a:rPr lang="uk-UA" sz="1500" dirty="0" err="1">
                <a:solidFill>
                  <a:srgbClr val="002060"/>
                </a:solidFill>
              </a:rPr>
              <a:t>адмін</a:t>
            </a:r>
            <a:r>
              <a:rPr lang="uk-UA" sz="1500" dirty="0">
                <a:solidFill>
                  <a:srgbClr val="002060"/>
                </a:solidFill>
              </a:rPr>
              <a:t>-панель для перегляду користувачів, розрахунків і проєктів із доступом лише для адміністратора.</a:t>
            </a:r>
          </a:p>
          <a:p>
            <a:pPr algn="just">
              <a:spcAft>
                <a:spcPts val="300"/>
              </a:spcAft>
            </a:pPr>
            <a:r>
              <a:rPr lang="uk-UA" sz="1500" b="1" dirty="0">
                <a:solidFill>
                  <a:srgbClr val="002060"/>
                </a:solidFill>
              </a:rPr>
              <a:t>Інтеграція з базою даних: </a:t>
            </a:r>
            <a:r>
              <a:rPr lang="uk-UA" sz="1500" dirty="0">
                <a:solidFill>
                  <a:srgbClr val="002060"/>
                </a:solidFill>
              </a:rPr>
              <a:t>Налаштувати </a:t>
            </a:r>
            <a:r>
              <a:rPr lang="en-US" sz="1500" dirty="0" err="1">
                <a:solidFill>
                  <a:srgbClr val="002060"/>
                </a:solidFill>
              </a:rPr>
              <a:t>Supabase</a:t>
            </a:r>
            <a:r>
              <a:rPr lang="en-US" sz="1500" dirty="0">
                <a:solidFill>
                  <a:srgbClr val="002060"/>
                </a:solidFill>
              </a:rPr>
              <a:t> Auth, </a:t>
            </a:r>
            <a:r>
              <a:rPr lang="en-US" sz="1500" dirty="0" err="1">
                <a:solidFill>
                  <a:srgbClr val="002060"/>
                </a:solidFill>
              </a:rPr>
              <a:t>Supabase</a:t>
            </a:r>
            <a:r>
              <a:rPr lang="en-US" sz="1500" dirty="0">
                <a:solidFill>
                  <a:srgbClr val="002060"/>
                </a:solidFill>
              </a:rPr>
              <a:t> Database, </a:t>
            </a:r>
            <a:r>
              <a:rPr lang="uk-UA" sz="1500" dirty="0">
                <a:solidFill>
                  <a:srgbClr val="002060"/>
                </a:solidFill>
              </a:rPr>
              <a:t>захист даних користувачів через </a:t>
            </a:r>
            <a:r>
              <a:rPr lang="en-US" sz="1500" dirty="0">
                <a:solidFill>
                  <a:srgbClr val="002060"/>
                </a:solidFill>
              </a:rPr>
              <a:t>RLS </a:t>
            </a:r>
            <a:r>
              <a:rPr lang="uk-UA" sz="1500" dirty="0">
                <a:solidFill>
                  <a:srgbClr val="002060"/>
                </a:solidFill>
              </a:rPr>
              <a:t>та </a:t>
            </a:r>
            <a:r>
              <a:rPr lang="en-US" sz="1500" dirty="0" err="1">
                <a:solidFill>
                  <a:srgbClr val="002060"/>
                </a:solidFill>
              </a:rPr>
              <a:t>Supabase</a:t>
            </a:r>
            <a:r>
              <a:rPr lang="en-US" sz="1500" dirty="0">
                <a:solidFill>
                  <a:srgbClr val="002060"/>
                </a:solidFill>
              </a:rPr>
              <a:t> Edge Function </a:t>
            </a:r>
            <a:r>
              <a:rPr lang="uk-UA" sz="1500" dirty="0">
                <a:solidFill>
                  <a:srgbClr val="002060"/>
                </a:solidFill>
              </a:rPr>
              <a:t>для видалення акаунта.</a:t>
            </a:r>
          </a:p>
        </p:txBody>
      </p:sp>
    </p:spTree>
    <p:extLst>
      <p:ext uri="{BB962C8B-B14F-4D97-AF65-F5344CB8AC3E}">
        <p14:creationId xmlns:p14="http://schemas.microsoft.com/office/powerpoint/2010/main" val="3423444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22545" y="120018"/>
            <a:ext cx="10946910" cy="2769989"/>
          </a:xfrm>
        </p:spPr>
        <p:txBody>
          <a:bodyPr/>
          <a:lstStyle/>
          <a:p>
            <a:r>
              <a:rPr lang="uk-UA" dirty="0">
                <a:solidFill>
                  <a:srgbClr val="002060"/>
                </a:solidFill>
              </a:rPr>
              <a:t>Аналіз предметної області</a:t>
            </a:r>
            <a:br>
              <a:rPr lang="uk-UA" dirty="0">
                <a:solidFill>
                  <a:srgbClr val="002060"/>
                </a:solidFill>
              </a:rPr>
            </a:br>
            <a:endParaRPr lang="uk-UA" dirty="0"/>
          </a:p>
        </p:txBody>
      </p:sp>
      <p:sp>
        <p:nvSpPr>
          <p:cNvPr id="4" name="TextBox 3"/>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4/16</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8" name="Підзаголовок 2">
            <a:extLst>
              <a:ext uri="{FF2B5EF4-FFF2-40B4-BE49-F238E27FC236}">
                <a16:creationId xmlns:a16="http://schemas.microsoft.com/office/drawing/2014/main" id="{FCDDCCBC-8BE1-C1EA-4FC7-B60C2307DBE6}"/>
              </a:ext>
            </a:extLst>
          </p:cNvPr>
          <p:cNvSpPr>
            <a:spLocks noGrp="1"/>
          </p:cNvSpPr>
          <p:nvPr>
            <p:ph type="subTitle" idx="1"/>
          </p:nvPr>
        </p:nvSpPr>
        <p:spPr>
          <a:xfrm>
            <a:off x="268705" y="1642272"/>
            <a:ext cx="11654590" cy="4701287"/>
          </a:xfrm>
        </p:spPr>
        <p:txBody>
          <a:bodyPr/>
          <a:lstStyle/>
          <a:p>
            <a:endParaRPr lang="uk-UA" sz="1400" dirty="0">
              <a:solidFill>
                <a:srgbClr val="002060"/>
              </a:solidFill>
            </a:endParaRPr>
          </a:p>
          <a:p>
            <a:pPr algn="just">
              <a:spcAft>
                <a:spcPts val="300"/>
              </a:spcAft>
            </a:pPr>
            <a:r>
              <a:rPr lang="uk-UA" sz="1200" dirty="0">
                <a:solidFill>
                  <a:srgbClr val="002060"/>
                </a:solidFill>
              </a:rPr>
              <a:t>Вебзастосунок «Теплоенергетик» належить до спеціалізованих інженерних систем, які призначені для виконання теплоенергетичних розрахунків, роботи з формулами, збереження результатів і формування проєктів. Такий застосунок може бути корисним для студентів, викладачів, інженерів і користувачів, які працюють із теплотехнічними параметрами та потребують швидкого доступу до розрахунків і довідкової інформації. </a:t>
            </a:r>
          </a:p>
          <a:p>
            <a:pPr algn="just">
              <a:spcAft>
                <a:spcPts val="300"/>
              </a:spcAft>
            </a:pPr>
            <a:r>
              <a:rPr lang="uk-UA" sz="1200" b="1" dirty="0">
                <a:solidFill>
                  <a:srgbClr val="002060"/>
                </a:solidFill>
              </a:rPr>
              <a:t>Огляд існуючих рішень та їх недоліків </a:t>
            </a:r>
          </a:p>
          <a:p>
            <a:pPr algn="just">
              <a:spcAft>
                <a:spcPts val="300"/>
              </a:spcAft>
            </a:pPr>
            <a:r>
              <a:rPr lang="uk-UA" sz="1200" b="1" dirty="0">
                <a:solidFill>
                  <a:srgbClr val="002060"/>
                </a:solidFill>
              </a:rPr>
              <a:t>Онлайн-калькулятори</a:t>
            </a:r>
            <a:r>
              <a:rPr lang="uk-UA" sz="1200" dirty="0">
                <a:solidFill>
                  <a:srgbClr val="002060"/>
                </a:solidFill>
              </a:rPr>
              <a:t> дозволяють виконувати окремі фізичні або теплотехнічні розрахунки, однак зазвичай мають обмежений функціонал. Вони не зберігають історію результатів, не підтримують створення проєктів і не дають змоги об’єднувати кілька розрахунків у спільну структуру.</a:t>
            </a:r>
          </a:p>
          <a:p>
            <a:pPr algn="just">
              <a:spcAft>
                <a:spcPts val="300"/>
              </a:spcAft>
            </a:pPr>
            <a:r>
              <a:rPr lang="en-US" sz="1200" b="1" dirty="0">
                <a:solidFill>
                  <a:srgbClr val="002060"/>
                </a:solidFill>
              </a:rPr>
              <a:t>Excel </a:t>
            </a:r>
            <a:r>
              <a:rPr lang="uk-UA" sz="1200" b="1" dirty="0">
                <a:solidFill>
                  <a:srgbClr val="002060"/>
                </a:solidFill>
              </a:rPr>
              <a:t>та </a:t>
            </a:r>
            <a:r>
              <a:rPr lang="en-US" sz="1200" b="1" dirty="0">
                <a:solidFill>
                  <a:srgbClr val="002060"/>
                </a:solidFill>
              </a:rPr>
              <a:t>Google Sheets </a:t>
            </a:r>
            <a:r>
              <a:rPr lang="uk-UA" sz="1200" dirty="0">
                <a:solidFill>
                  <a:srgbClr val="002060"/>
                </a:solidFill>
              </a:rPr>
              <a:t>можуть використовуватися для інженерних розрахунків, але користувачеві потрібно самостійно створювати формули, таблиці, структуру даних і оформлення. Такі рішення не мають готового спеціалізованого інтерфейсу саме для теплоенергетичних задач.</a:t>
            </a:r>
          </a:p>
          <a:p>
            <a:pPr algn="just">
              <a:spcAft>
                <a:spcPts val="300"/>
              </a:spcAft>
            </a:pPr>
            <a:r>
              <a:rPr lang="uk-UA" sz="1200" b="1" dirty="0">
                <a:solidFill>
                  <a:srgbClr val="002060"/>
                </a:solidFill>
              </a:rPr>
              <a:t>Довідники, підручники та </a:t>
            </a:r>
            <a:r>
              <a:rPr lang="en-US" sz="1200" b="1" dirty="0">
                <a:solidFill>
                  <a:srgbClr val="002060"/>
                </a:solidFill>
              </a:rPr>
              <a:t>PDF-</a:t>
            </a:r>
            <a:r>
              <a:rPr lang="uk-UA" sz="1200" b="1" dirty="0">
                <a:solidFill>
                  <a:srgbClr val="002060"/>
                </a:solidFill>
              </a:rPr>
              <a:t>матеріали </a:t>
            </a:r>
            <a:r>
              <a:rPr lang="uk-UA" sz="1200" dirty="0">
                <a:solidFill>
                  <a:srgbClr val="002060"/>
                </a:solidFill>
              </a:rPr>
              <a:t>містять формули, константи й теоретичні відомості, але не дозволяють одразу виконувати розрахунки, зберігати результати або експортувати їх у вигляді звітів.</a:t>
            </a:r>
          </a:p>
          <a:p>
            <a:pPr algn="just">
              <a:spcAft>
                <a:spcPts val="300"/>
              </a:spcAft>
            </a:pPr>
            <a:r>
              <a:rPr lang="en-US" sz="1200" b="1" dirty="0">
                <a:solidFill>
                  <a:srgbClr val="002060"/>
                </a:solidFill>
              </a:rPr>
              <a:t>CMS-</a:t>
            </a:r>
            <a:r>
              <a:rPr lang="uk-UA" sz="1200" b="1" dirty="0">
                <a:solidFill>
                  <a:srgbClr val="002060"/>
                </a:solidFill>
              </a:rPr>
              <a:t>платформи </a:t>
            </a:r>
            <a:r>
              <a:rPr lang="uk-UA" sz="1200" dirty="0">
                <a:solidFill>
                  <a:srgbClr val="002060"/>
                </a:solidFill>
              </a:rPr>
              <a:t>на зразок </a:t>
            </a:r>
            <a:r>
              <a:rPr lang="en-US" sz="1200" dirty="0">
                <a:solidFill>
                  <a:srgbClr val="002060"/>
                </a:solidFill>
              </a:rPr>
              <a:t>WordPress, Joomla </a:t>
            </a:r>
            <a:r>
              <a:rPr lang="uk-UA" sz="1200" dirty="0">
                <a:solidFill>
                  <a:srgbClr val="002060"/>
                </a:solidFill>
              </a:rPr>
              <a:t>або </a:t>
            </a:r>
            <a:r>
              <a:rPr lang="en-US" sz="1200" dirty="0">
                <a:solidFill>
                  <a:srgbClr val="002060"/>
                </a:solidFill>
              </a:rPr>
              <a:t>Wix </a:t>
            </a:r>
            <a:r>
              <a:rPr lang="uk-UA" sz="1200" dirty="0">
                <a:solidFill>
                  <a:srgbClr val="002060"/>
                </a:solidFill>
              </a:rPr>
              <a:t>зручні для створення інформаційних сайтів, але для реалізації калькуляторів, авторизації, бази даних, особистого кабінету та експорту потребують додаткових модулів або значного доопрацювання.</a:t>
            </a:r>
          </a:p>
          <a:p>
            <a:pPr algn="just">
              <a:spcAft>
                <a:spcPts val="300"/>
              </a:spcAft>
            </a:pPr>
            <a:r>
              <a:rPr lang="uk-UA" sz="1200" b="1" dirty="0">
                <a:solidFill>
                  <a:srgbClr val="002060"/>
                </a:solidFill>
              </a:rPr>
              <a:t>Обґрунтування вибору технологій</a:t>
            </a:r>
          </a:p>
          <a:p>
            <a:pPr algn="just">
              <a:spcAft>
                <a:spcPts val="300"/>
              </a:spcAft>
            </a:pPr>
            <a:r>
              <a:rPr lang="uk-UA" sz="1200" dirty="0">
                <a:solidFill>
                  <a:srgbClr val="002060"/>
                </a:solidFill>
              </a:rPr>
              <a:t>Для реалізації клієнтської частини було обрано </a:t>
            </a:r>
            <a:r>
              <a:rPr lang="en-US" sz="1200" b="1" dirty="0">
                <a:solidFill>
                  <a:srgbClr val="002060"/>
                </a:solidFill>
              </a:rPr>
              <a:t>HTML, CSS </a:t>
            </a:r>
            <a:r>
              <a:rPr lang="uk-UA" sz="1200" b="1" dirty="0">
                <a:solidFill>
                  <a:srgbClr val="002060"/>
                </a:solidFill>
              </a:rPr>
              <a:t>і </a:t>
            </a:r>
            <a:r>
              <a:rPr lang="en-US" sz="1200" b="1" dirty="0">
                <a:solidFill>
                  <a:srgbClr val="002060"/>
                </a:solidFill>
              </a:rPr>
              <a:t>JavaScript</a:t>
            </a:r>
            <a:r>
              <a:rPr lang="en-US" sz="1200" dirty="0">
                <a:solidFill>
                  <a:srgbClr val="002060"/>
                </a:solidFill>
              </a:rPr>
              <a:t>, </a:t>
            </a:r>
            <a:r>
              <a:rPr lang="uk-UA" sz="1200" dirty="0">
                <a:solidFill>
                  <a:srgbClr val="002060"/>
                </a:solidFill>
              </a:rPr>
              <a:t>оскільки ці технології дозволяють створити інтерактивний </a:t>
            </a:r>
            <a:r>
              <a:rPr lang="uk-UA" sz="1200" dirty="0" err="1">
                <a:solidFill>
                  <a:srgbClr val="002060"/>
                </a:solidFill>
              </a:rPr>
              <a:t>вебінтерфейс</a:t>
            </a:r>
            <a:r>
              <a:rPr lang="uk-UA" sz="1200" dirty="0">
                <a:solidFill>
                  <a:srgbClr val="002060"/>
                </a:solidFill>
              </a:rPr>
              <a:t>, обробляти введені дані, виконувати розрахунки та </a:t>
            </a:r>
            <a:r>
              <a:rPr lang="uk-UA" sz="1200" dirty="0" err="1">
                <a:solidFill>
                  <a:srgbClr val="002060"/>
                </a:solidFill>
              </a:rPr>
              <a:t>динамічно</a:t>
            </a:r>
            <a:r>
              <a:rPr lang="uk-UA" sz="1200" dirty="0">
                <a:solidFill>
                  <a:srgbClr val="002060"/>
                </a:solidFill>
              </a:rPr>
              <a:t> відображати результати.</a:t>
            </a:r>
          </a:p>
          <a:p>
            <a:pPr algn="just">
              <a:spcAft>
                <a:spcPts val="300"/>
              </a:spcAft>
            </a:pPr>
            <a:r>
              <a:rPr lang="en-US" sz="1200" b="1" dirty="0">
                <a:solidFill>
                  <a:srgbClr val="002060"/>
                </a:solidFill>
              </a:rPr>
              <a:t>Bootstrap</a:t>
            </a:r>
            <a:r>
              <a:rPr lang="en-US" sz="1200" dirty="0">
                <a:solidFill>
                  <a:srgbClr val="002060"/>
                </a:solidFill>
              </a:rPr>
              <a:t> </a:t>
            </a:r>
            <a:r>
              <a:rPr lang="uk-UA" sz="1200" dirty="0">
                <a:solidFill>
                  <a:srgbClr val="002060"/>
                </a:solidFill>
              </a:rPr>
              <a:t>використано для адаптивної верстки, оформлення форм, кнопок, карток і таблиць. Це забезпечує коректне відображення сайту як на комп’ютерах, так і на мобільних пристроях.</a:t>
            </a:r>
          </a:p>
          <a:p>
            <a:pPr algn="just">
              <a:spcAft>
                <a:spcPts val="300"/>
              </a:spcAft>
            </a:pPr>
            <a:r>
              <a:rPr lang="en-US" sz="1200" b="1" dirty="0">
                <a:solidFill>
                  <a:srgbClr val="002060"/>
                </a:solidFill>
              </a:rPr>
              <a:t>Chart.js </a:t>
            </a:r>
            <a:r>
              <a:rPr lang="uk-UA" sz="1200" dirty="0">
                <a:solidFill>
                  <a:srgbClr val="002060"/>
                </a:solidFill>
              </a:rPr>
              <a:t>застосовано для побудови графіків за результатами окремих розрахунків, що дозволяє краще аналізувати залежності між параметрами.</a:t>
            </a:r>
          </a:p>
          <a:p>
            <a:pPr algn="just">
              <a:spcAft>
                <a:spcPts val="300"/>
              </a:spcAft>
            </a:pPr>
            <a:r>
              <a:rPr lang="uk-UA" sz="1200" dirty="0">
                <a:solidFill>
                  <a:srgbClr val="002060"/>
                </a:solidFill>
              </a:rPr>
              <a:t>Для збереження користувачів, профілів, історії розрахунків, проєктів і елементів проєктів використано </a:t>
            </a:r>
            <a:r>
              <a:rPr lang="en-US" sz="1200" b="1" dirty="0" err="1">
                <a:solidFill>
                  <a:srgbClr val="002060"/>
                </a:solidFill>
              </a:rPr>
              <a:t>Supabase</a:t>
            </a:r>
            <a:r>
              <a:rPr lang="en-US" sz="1200" b="1" dirty="0">
                <a:solidFill>
                  <a:srgbClr val="002060"/>
                </a:solidFill>
              </a:rPr>
              <a:t> Auth </a:t>
            </a:r>
            <a:r>
              <a:rPr lang="uk-UA" sz="1200" dirty="0">
                <a:solidFill>
                  <a:srgbClr val="002060"/>
                </a:solidFill>
              </a:rPr>
              <a:t>та</a:t>
            </a:r>
            <a:r>
              <a:rPr lang="uk-UA" sz="1200" b="1" dirty="0">
                <a:solidFill>
                  <a:srgbClr val="002060"/>
                </a:solidFill>
              </a:rPr>
              <a:t> </a:t>
            </a:r>
            <a:r>
              <a:rPr lang="en-US" sz="1200" b="1" dirty="0" err="1">
                <a:solidFill>
                  <a:srgbClr val="002060"/>
                </a:solidFill>
              </a:rPr>
              <a:t>Supabase</a:t>
            </a:r>
            <a:r>
              <a:rPr lang="en-US" sz="1200" b="1" dirty="0">
                <a:solidFill>
                  <a:srgbClr val="002060"/>
                </a:solidFill>
              </a:rPr>
              <a:t> Database</a:t>
            </a:r>
            <a:r>
              <a:rPr lang="en-US" sz="1200" dirty="0">
                <a:solidFill>
                  <a:srgbClr val="002060"/>
                </a:solidFill>
              </a:rPr>
              <a:t>. </a:t>
            </a:r>
            <a:r>
              <a:rPr lang="uk-UA" sz="1200" dirty="0">
                <a:solidFill>
                  <a:srgbClr val="002060"/>
                </a:solidFill>
              </a:rPr>
              <a:t>Це дало змогу реалізувати авторизацію, базу даних і захист даних без створення окремого серверного застосунку.</a:t>
            </a:r>
          </a:p>
          <a:p>
            <a:pPr algn="just">
              <a:spcAft>
                <a:spcPts val="300"/>
              </a:spcAft>
            </a:pPr>
            <a:r>
              <a:rPr lang="uk-UA" sz="1200" dirty="0">
                <a:solidFill>
                  <a:srgbClr val="002060"/>
                </a:solidFill>
              </a:rPr>
              <a:t>Для повного видалення акаунта застосовано </a:t>
            </a:r>
            <a:r>
              <a:rPr lang="en-US" sz="1200" b="1" dirty="0" err="1">
                <a:solidFill>
                  <a:srgbClr val="002060"/>
                </a:solidFill>
              </a:rPr>
              <a:t>Supabase</a:t>
            </a:r>
            <a:r>
              <a:rPr lang="en-US" sz="1200" b="1" dirty="0">
                <a:solidFill>
                  <a:srgbClr val="002060"/>
                </a:solidFill>
              </a:rPr>
              <a:t> Edge Function</a:t>
            </a:r>
            <a:r>
              <a:rPr lang="en-US" sz="1200" dirty="0">
                <a:solidFill>
                  <a:srgbClr val="002060"/>
                </a:solidFill>
              </a:rPr>
              <a:t>, </a:t>
            </a:r>
            <a:r>
              <a:rPr lang="uk-UA" sz="1200" dirty="0">
                <a:solidFill>
                  <a:srgbClr val="002060"/>
                </a:solidFill>
              </a:rPr>
              <a:t>оскільки така операція має виконуватися на серверній стороні. Для експорту даних використано бібліотеки, які дозволяють формувати файли у форматах </a:t>
            </a:r>
            <a:r>
              <a:rPr lang="en-US" sz="1200" b="1" dirty="0">
                <a:solidFill>
                  <a:srgbClr val="002060"/>
                </a:solidFill>
              </a:rPr>
              <a:t>CSV, XLSX, PDF </a:t>
            </a:r>
            <a:r>
              <a:rPr lang="uk-UA" sz="1200" b="1" dirty="0">
                <a:solidFill>
                  <a:srgbClr val="002060"/>
                </a:solidFill>
              </a:rPr>
              <a:t>і </a:t>
            </a:r>
            <a:r>
              <a:rPr lang="en-US" sz="1200" b="1" dirty="0">
                <a:solidFill>
                  <a:srgbClr val="002060"/>
                </a:solidFill>
              </a:rPr>
              <a:t>DOCX</a:t>
            </a:r>
            <a:r>
              <a:rPr lang="en-US" sz="1200" dirty="0">
                <a:solidFill>
                  <a:srgbClr val="002060"/>
                </a:solidFill>
              </a:rPr>
              <a:t>.</a:t>
            </a:r>
            <a:endParaRPr lang="uk-UA" sz="1200" dirty="0">
              <a:solidFill>
                <a:srgbClr val="002060"/>
              </a:solidFill>
            </a:endParaRPr>
          </a:p>
        </p:txBody>
      </p:sp>
    </p:spTree>
    <p:extLst>
      <p:ext uri="{BB962C8B-B14F-4D97-AF65-F5344CB8AC3E}">
        <p14:creationId xmlns:p14="http://schemas.microsoft.com/office/powerpoint/2010/main" val="1271453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058432"/>
            <a:ext cx="9144000" cy="2769989"/>
          </a:xfrm>
        </p:spPr>
        <p:txBody>
          <a:bodyPr/>
          <a:lstStyle/>
          <a:p>
            <a:r>
              <a:rPr lang="uk-UA" dirty="0">
                <a:solidFill>
                  <a:srgbClr val="002060"/>
                </a:solidFill>
              </a:rPr>
              <a:t>Проєктування системи</a:t>
            </a:r>
            <a:br>
              <a:rPr lang="uk-UA" dirty="0">
                <a:solidFill>
                  <a:srgbClr val="002060"/>
                </a:solidFill>
              </a:rPr>
            </a:br>
            <a:br>
              <a:rPr lang="uk-UA" dirty="0">
                <a:solidFill>
                  <a:srgbClr val="002060"/>
                </a:solidFill>
              </a:rPr>
            </a:br>
            <a:endParaRPr lang="uk-UA" dirty="0"/>
          </a:p>
        </p:txBody>
      </p:sp>
      <p:sp>
        <p:nvSpPr>
          <p:cNvPr id="4" name="TextBox 3"/>
          <p:cNvSpPr txBox="1"/>
          <p:nvPr/>
        </p:nvSpPr>
        <p:spPr>
          <a:xfrm>
            <a:off x="9515061" y="6350230"/>
            <a:ext cx="2650435" cy="461665"/>
          </a:xfrm>
          <a:prstGeom prst="rect">
            <a:avLst/>
          </a:prstGeom>
          <a:noFill/>
        </p:spPr>
        <p:txBody>
          <a:bodyPr wrap="square" rtlCol="0">
            <a:spAutoFit/>
          </a:bodyPr>
          <a:lstStyle/>
          <a:p>
            <a:pPr algn="r"/>
            <a:r>
              <a:rPr lang="uk-UA" sz="2400" dirty="0">
                <a:solidFill>
                  <a:schemeClr val="bg1"/>
                </a:solidFill>
              </a:rPr>
              <a:t>5/16</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9" name="Підзаголовок 2">
            <a:extLst>
              <a:ext uri="{FF2B5EF4-FFF2-40B4-BE49-F238E27FC236}">
                <a16:creationId xmlns:a16="http://schemas.microsoft.com/office/drawing/2014/main" id="{515CF963-2F32-A5D7-A993-7850648A260D}"/>
              </a:ext>
            </a:extLst>
          </p:cNvPr>
          <p:cNvSpPr>
            <a:spLocks noGrp="1"/>
          </p:cNvSpPr>
          <p:nvPr>
            <p:ph type="subTitle" idx="1"/>
          </p:nvPr>
        </p:nvSpPr>
        <p:spPr>
          <a:xfrm>
            <a:off x="268705" y="1946534"/>
            <a:ext cx="11654590" cy="3924151"/>
          </a:xfrm>
        </p:spPr>
        <p:txBody>
          <a:bodyPr/>
          <a:lstStyle/>
          <a:p>
            <a:pPr algn="just">
              <a:spcBef>
                <a:spcPts val="300"/>
              </a:spcBef>
            </a:pPr>
            <a:r>
              <a:rPr lang="uk-UA" sz="1500" dirty="0">
                <a:solidFill>
                  <a:srgbClr val="002060"/>
                </a:solidFill>
              </a:rPr>
              <a:t>Для розробки вебзастосунку «Теплоенергетик» було використано кілька основних підходів, які дозволили розділити систему на окремі функціональні частини та забезпечити зручну роботу користувача.</a:t>
            </a:r>
          </a:p>
          <a:p>
            <a:pPr algn="just">
              <a:spcBef>
                <a:spcPts val="300"/>
              </a:spcBef>
            </a:pPr>
            <a:r>
              <a:rPr lang="uk-UA" sz="1500" b="1" dirty="0">
                <a:solidFill>
                  <a:srgbClr val="002060"/>
                </a:solidFill>
              </a:rPr>
              <a:t>Модульний підхід: </a:t>
            </a:r>
            <a:r>
              <a:rPr lang="uk-UA" sz="1500" dirty="0">
                <a:solidFill>
                  <a:srgbClr val="002060"/>
                </a:solidFill>
              </a:rPr>
              <a:t>Система була поділена на окремі модулі: авторизація та реєстрація, профіль користувача, калькулятори, журнал розрахунків, проєкти, довідник та адміністративна панель. Такий підхід спрощує розробку, тестування і подальше розширення функціоналу.</a:t>
            </a:r>
          </a:p>
          <a:p>
            <a:pPr algn="just">
              <a:spcBef>
                <a:spcPts val="300"/>
              </a:spcBef>
            </a:pPr>
            <a:r>
              <a:rPr lang="uk-UA" sz="1500" b="1" dirty="0">
                <a:solidFill>
                  <a:srgbClr val="002060"/>
                </a:solidFill>
              </a:rPr>
              <a:t>Клієнтська логіка розрахунків: </a:t>
            </a:r>
            <a:r>
              <a:rPr lang="uk-UA" sz="1500" dirty="0">
                <a:solidFill>
                  <a:srgbClr val="002060"/>
                </a:solidFill>
              </a:rPr>
              <a:t>Основні теплоенергетичні розрахунки виконуються на стороні клієнта за допомогою </a:t>
            </a:r>
            <a:r>
              <a:rPr lang="en-US" sz="1500" dirty="0">
                <a:solidFill>
                  <a:srgbClr val="002060"/>
                </a:solidFill>
              </a:rPr>
              <a:t>JavaScript. </a:t>
            </a:r>
            <a:r>
              <a:rPr lang="uk-UA" sz="1500" dirty="0">
                <a:solidFill>
                  <a:srgbClr val="002060"/>
                </a:solidFill>
              </a:rPr>
              <a:t>Користувач вводить початкові дані, після чого система перевіряє коректність значень, виконує обчислення та відображає результат.</a:t>
            </a:r>
          </a:p>
          <a:p>
            <a:pPr algn="just">
              <a:spcBef>
                <a:spcPts val="300"/>
              </a:spcBef>
            </a:pPr>
            <a:r>
              <a:rPr lang="uk-UA" sz="1500" b="1" dirty="0">
                <a:solidFill>
                  <a:srgbClr val="002060"/>
                </a:solidFill>
              </a:rPr>
              <a:t>Робота з базою даних: </a:t>
            </a:r>
            <a:r>
              <a:rPr lang="uk-UA" sz="1500" dirty="0">
                <a:solidFill>
                  <a:srgbClr val="002060"/>
                </a:solidFill>
              </a:rPr>
              <a:t>Для збереження профілів, історії розрахунків, проєктів і елементів проєктів використовується </a:t>
            </a:r>
            <a:r>
              <a:rPr lang="en-US" sz="1500" dirty="0" err="1">
                <a:solidFill>
                  <a:srgbClr val="002060"/>
                </a:solidFill>
              </a:rPr>
              <a:t>Supabase</a:t>
            </a:r>
            <a:r>
              <a:rPr lang="en-US" sz="1500" dirty="0">
                <a:solidFill>
                  <a:srgbClr val="002060"/>
                </a:solidFill>
              </a:rPr>
              <a:t> Database. </a:t>
            </a:r>
            <a:r>
              <a:rPr lang="uk-UA" sz="1500" dirty="0">
                <a:solidFill>
                  <a:srgbClr val="002060"/>
                </a:solidFill>
              </a:rPr>
              <a:t>Дані користувачів розділені за допомогою ідентифікатора користувача, що дозволяє кожному бачити лише власну інформацію.</a:t>
            </a:r>
          </a:p>
          <a:p>
            <a:pPr algn="just">
              <a:spcBef>
                <a:spcPts val="300"/>
              </a:spcBef>
            </a:pPr>
            <a:r>
              <a:rPr lang="uk-UA" sz="1500" b="1" dirty="0">
                <a:solidFill>
                  <a:srgbClr val="002060"/>
                </a:solidFill>
              </a:rPr>
              <a:t>Безпека: </a:t>
            </a:r>
            <a:r>
              <a:rPr lang="uk-UA" sz="1500" dirty="0">
                <a:solidFill>
                  <a:srgbClr val="002060"/>
                </a:solidFill>
              </a:rPr>
              <a:t>Для авторизації використано </a:t>
            </a:r>
            <a:r>
              <a:rPr lang="en-US" sz="1500" dirty="0" err="1">
                <a:solidFill>
                  <a:srgbClr val="002060"/>
                </a:solidFill>
              </a:rPr>
              <a:t>Supabase</a:t>
            </a:r>
            <a:r>
              <a:rPr lang="en-US" sz="1500" dirty="0">
                <a:solidFill>
                  <a:srgbClr val="002060"/>
                </a:solidFill>
              </a:rPr>
              <a:t> Auth. </a:t>
            </a:r>
            <a:r>
              <a:rPr lang="uk-UA" sz="1500" dirty="0">
                <a:solidFill>
                  <a:srgbClr val="002060"/>
                </a:solidFill>
              </a:rPr>
              <a:t>Захист даних реалізовано за допомогою </a:t>
            </a:r>
            <a:r>
              <a:rPr lang="en-US" sz="1500" dirty="0">
                <a:solidFill>
                  <a:srgbClr val="002060"/>
                </a:solidFill>
              </a:rPr>
              <a:t>Row Level Security, </a:t>
            </a:r>
            <a:r>
              <a:rPr lang="uk-UA" sz="1500" dirty="0">
                <a:solidFill>
                  <a:srgbClr val="002060"/>
                </a:solidFill>
              </a:rPr>
              <a:t>що обмежує доступ користувачів до чужих записів. Повне видалення акаунта винесено в </a:t>
            </a:r>
            <a:r>
              <a:rPr lang="en-US" sz="1500" dirty="0" err="1">
                <a:solidFill>
                  <a:srgbClr val="002060"/>
                </a:solidFill>
              </a:rPr>
              <a:t>Supabase</a:t>
            </a:r>
            <a:r>
              <a:rPr lang="en-US" sz="1500" dirty="0">
                <a:solidFill>
                  <a:srgbClr val="002060"/>
                </a:solidFill>
              </a:rPr>
              <a:t> Edge Function, </a:t>
            </a:r>
            <a:r>
              <a:rPr lang="uk-UA" sz="1500" dirty="0">
                <a:solidFill>
                  <a:srgbClr val="002060"/>
                </a:solidFill>
              </a:rPr>
              <a:t>оскільки ця операція має виконуватися на серверній стороні.</a:t>
            </a:r>
          </a:p>
          <a:p>
            <a:pPr algn="just">
              <a:spcBef>
                <a:spcPts val="300"/>
              </a:spcBef>
            </a:pPr>
            <a:r>
              <a:rPr lang="uk-UA" sz="1500" b="1" dirty="0">
                <a:solidFill>
                  <a:srgbClr val="002060"/>
                </a:solidFill>
              </a:rPr>
              <a:t>Зручність користування: </a:t>
            </a:r>
            <a:r>
              <a:rPr lang="uk-UA" sz="1500" dirty="0">
                <a:solidFill>
                  <a:srgbClr val="002060"/>
                </a:solidFill>
              </a:rPr>
              <a:t>Інтерфейс побудований з використанням </a:t>
            </a:r>
            <a:r>
              <a:rPr lang="en-US" sz="1500" dirty="0">
                <a:solidFill>
                  <a:srgbClr val="002060"/>
                </a:solidFill>
              </a:rPr>
              <a:t>Bootstrap, </a:t>
            </a:r>
            <a:r>
              <a:rPr lang="uk-UA" sz="1500" dirty="0">
                <a:solidFill>
                  <a:srgbClr val="002060"/>
                </a:solidFill>
              </a:rPr>
              <a:t>адаптований для різних пристроїв і підтримує зміну теми, кольорової схеми та розміру шрифту. Також реалізовано пошук, фільтрацію, модальні вікна, експорт даних та зміну порядку елементів проєкту перетягуванням.</a:t>
            </a:r>
          </a:p>
          <a:p>
            <a:pPr algn="just">
              <a:spcBef>
                <a:spcPts val="300"/>
              </a:spcBef>
            </a:pPr>
            <a:r>
              <a:rPr lang="uk-UA" sz="1500" b="1" dirty="0">
                <a:solidFill>
                  <a:srgbClr val="002060"/>
                </a:solidFill>
              </a:rPr>
              <a:t>Тестування: </a:t>
            </a:r>
            <a:r>
              <a:rPr lang="uk-UA" sz="1500" dirty="0">
                <a:solidFill>
                  <a:srgbClr val="002060"/>
                </a:solidFill>
              </a:rPr>
              <a:t>Під час розробки виконувалася перевірка основних сценаріїв роботи: реєстрація, вхід, зміна профілю, створення розрахунків, робота з проєктами, експорт файлів, видалення даних і повторна реєстрація користувача.</a:t>
            </a:r>
          </a:p>
        </p:txBody>
      </p:sp>
    </p:spTree>
    <p:extLst>
      <p:ext uri="{BB962C8B-B14F-4D97-AF65-F5344CB8AC3E}">
        <p14:creationId xmlns:p14="http://schemas.microsoft.com/office/powerpoint/2010/main" val="691126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7E52C-3DB1-23DA-3385-33012A5A5D6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3822AB-2E51-7077-7B73-0EED8A6FDDAD}"/>
              </a:ext>
            </a:extLst>
          </p:cNvPr>
          <p:cNvSpPr>
            <a:spLocks noGrp="1"/>
          </p:cNvSpPr>
          <p:nvPr>
            <p:ph type="ctrTitle"/>
          </p:nvPr>
        </p:nvSpPr>
        <p:spPr>
          <a:xfrm>
            <a:off x="1524000" y="1058432"/>
            <a:ext cx="9144000" cy="2769989"/>
          </a:xfrm>
        </p:spPr>
        <p:txBody>
          <a:bodyPr/>
          <a:lstStyle/>
          <a:p>
            <a:r>
              <a:rPr lang="uk-UA" dirty="0">
                <a:solidFill>
                  <a:srgbClr val="002060"/>
                </a:solidFill>
              </a:rPr>
              <a:t>Проєктування системи</a:t>
            </a:r>
            <a:br>
              <a:rPr lang="uk-UA" dirty="0">
                <a:solidFill>
                  <a:srgbClr val="002060"/>
                </a:solidFill>
              </a:rPr>
            </a:br>
            <a:br>
              <a:rPr lang="uk-UA" dirty="0">
                <a:solidFill>
                  <a:srgbClr val="002060"/>
                </a:solidFill>
              </a:rPr>
            </a:br>
            <a:endParaRPr lang="uk-UA" dirty="0"/>
          </a:p>
        </p:txBody>
      </p:sp>
      <p:sp>
        <p:nvSpPr>
          <p:cNvPr id="4" name="TextBox 3">
            <a:extLst>
              <a:ext uri="{FF2B5EF4-FFF2-40B4-BE49-F238E27FC236}">
                <a16:creationId xmlns:a16="http://schemas.microsoft.com/office/drawing/2014/main" id="{A41FE9A2-5783-54A9-9992-9D906C8CC643}"/>
              </a:ext>
            </a:extLst>
          </p:cNvPr>
          <p:cNvSpPr txBox="1"/>
          <p:nvPr/>
        </p:nvSpPr>
        <p:spPr>
          <a:xfrm>
            <a:off x="9515061" y="6350230"/>
            <a:ext cx="2650435" cy="461665"/>
          </a:xfrm>
          <a:prstGeom prst="rect">
            <a:avLst/>
          </a:prstGeom>
          <a:noFill/>
        </p:spPr>
        <p:txBody>
          <a:bodyPr wrap="square" rtlCol="0">
            <a:spAutoFit/>
          </a:bodyPr>
          <a:lstStyle/>
          <a:p>
            <a:pPr algn="r"/>
            <a:r>
              <a:rPr lang="uk-UA" sz="2400" dirty="0">
                <a:solidFill>
                  <a:schemeClr val="bg1"/>
                </a:solidFill>
              </a:rPr>
              <a:t>6/16</a:t>
            </a:r>
          </a:p>
        </p:txBody>
      </p:sp>
      <p:sp>
        <p:nvSpPr>
          <p:cNvPr id="5" name="TextBox 4">
            <a:extLst>
              <a:ext uri="{FF2B5EF4-FFF2-40B4-BE49-F238E27FC236}">
                <a16:creationId xmlns:a16="http://schemas.microsoft.com/office/drawing/2014/main" id="{F0A368CC-A5F9-AD5B-8E87-1EE2A055C68B}"/>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3" name="Підзаголовок 2">
            <a:extLst>
              <a:ext uri="{FF2B5EF4-FFF2-40B4-BE49-F238E27FC236}">
                <a16:creationId xmlns:a16="http://schemas.microsoft.com/office/drawing/2014/main" id="{22922B46-4F63-50A3-430B-E888864F0C7A}"/>
              </a:ext>
            </a:extLst>
          </p:cNvPr>
          <p:cNvSpPr>
            <a:spLocks noGrp="1"/>
          </p:cNvSpPr>
          <p:nvPr>
            <p:ph type="subTitle" idx="1"/>
          </p:nvPr>
        </p:nvSpPr>
        <p:spPr>
          <a:xfrm>
            <a:off x="268705" y="1699936"/>
            <a:ext cx="11654590" cy="546303"/>
          </a:xfrm>
        </p:spPr>
        <p:txBody>
          <a:bodyPr/>
          <a:lstStyle/>
          <a:p>
            <a:pPr>
              <a:spcBef>
                <a:spcPts val="300"/>
              </a:spcBef>
            </a:pPr>
            <a:endParaRPr lang="uk-UA" sz="1800" dirty="0">
              <a:solidFill>
                <a:srgbClr val="002060"/>
              </a:solidFill>
            </a:endParaRPr>
          </a:p>
          <a:p>
            <a:pPr algn="just">
              <a:spcBef>
                <a:spcPts val="300"/>
              </a:spcBef>
            </a:pPr>
            <a:r>
              <a:rPr lang="uk-UA" sz="1500" b="1" dirty="0">
                <a:solidFill>
                  <a:srgbClr val="002060"/>
                </a:solidFill>
              </a:rPr>
              <a:t>Діаграми</a:t>
            </a:r>
          </a:p>
        </p:txBody>
      </p:sp>
      <p:pic>
        <p:nvPicPr>
          <p:cNvPr id="6" name="Рисунок 5" descr="PlantUML diagram">
            <a:extLst>
              <a:ext uri="{FF2B5EF4-FFF2-40B4-BE49-F238E27FC236}">
                <a16:creationId xmlns:a16="http://schemas.microsoft.com/office/drawing/2014/main" id="{E420546F-C4E6-48C3-11CD-797358FC224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11716" y="1973086"/>
            <a:ext cx="3045078" cy="4138955"/>
          </a:xfrm>
          <a:prstGeom prst="rect">
            <a:avLst/>
          </a:prstGeom>
          <a:noFill/>
          <a:ln>
            <a:solidFill>
              <a:schemeClr val="tx2"/>
            </a:solidFill>
          </a:ln>
        </p:spPr>
      </p:pic>
      <p:pic>
        <p:nvPicPr>
          <p:cNvPr id="9" name="Рисунок 8" descr="PlantUML diagram">
            <a:extLst>
              <a:ext uri="{FF2B5EF4-FFF2-40B4-BE49-F238E27FC236}">
                <a16:creationId xmlns:a16="http://schemas.microsoft.com/office/drawing/2014/main" id="{80A71F97-3297-831C-2506-1696D7F92C5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1452" y="1941094"/>
            <a:ext cx="2568831" cy="4176133"/>
          </a:xfrm>
          <a:prstGeom prst="rect">
            <a:avLst/>
          </a:prstGeom>
          <a:noFill/>
          <a:ln>
            <a:solidFill>
              <a:schemeClr val="tx2"/>
            </a:solidFill>
          </a:ln>
        </p:spPr>
      </p:pic>
      <p:sp>
        <p:nvSpPr>
          <p:cNvPr id="10" name="Підзаголовок 2">
            <a:extLst>
              <a:ext uri="{FF2B5EF4-FFF2-40B4-BE49-F238E27FC236}">
                <a16:creationId xmlns:a16="http://schemas.microsoft.com/office/drawing/2014/main" id="{CBAF49F0-83C8-8D77-2190-947F372AFA5C}"/>
              </a:ext>
            </a:extLst>
          </p:cNvPr>
          <p:cNvSpPr txBox="1">
            <a:spLocks/>
          </p:cNvSpPr>
          <p:nvPr/>
        </p:nvSpPr>
        <p:spPr>
          <a:xfrm>
            <a:off x="7895442" y="5799568"/>
            <a:ext cx="1600850" cy="546303"/>
          </a:xfrm>
          <a:prstGeom prst="rect">
            <a:avLst/>
          </a:prstGeom>
        </p:spPr>
        <p:txBody>
          <a:bodyPr wrap="square" lIns="0" tIns="0" rIns="0" bIns="0">
            <a:spAutoFit/>
          </a:bodyPr>
          <a:lstStyle>
            <a:lvl1pPr marL="0" indent="0" algn="ctr" eaLnBrk="1" hangingPunct="1">
              <a:buNone/>
              <a:defRPr sz="2400" b="0" i="0">
                <a:solidFill>
                  <a:schemeClr val="bg1"/>
                </a:solidFill>
                <a:latin typeface="Calibri"/>
                <a:ea typeface="+mn-ea"/>
                <a:cs typeface="Calibri"/>
              </a:defRPr>
            </a:lvl1pPr>
            <a:lvl2pPr marL="457200" indent="0" algn="ctr" eaLnBrk="1" hangingPunct="1">
              <a:buNone/>
              <a:defRPr sz="2000">
                <a:latin typeface="+mn-lt"/>
                <a:ea typeface="+mn-ea"/>
                <a:cs typeface="+mn-cs"/>
              </a:defRPr>
            </a:lvl2pPr>
            <a:lvl3pPr marL="914400" indent="0" algn="ctr" eaLnBrk="1" hangingPunct="1">
              <a:buNone/>
              <a:defRPr sz="1800">
                <a:latin typeface="+mn-lt"/>
                <a:ea typeface="+mn-ea"/>
                <a:cs typeface="+mn-cs"/>
              </a:defRPr>
            </a:lvl3pPr>
            <a:lvl4pPr marL="1371600" indent="0" algn="ctr" eaLnBrk="1" hangingPunct="1">
              <a:buNone/>
              <a:defRPr sz="1600">
                <a:latin typeface="+mn-lt"/>
                <a:ea typeface="+mn-ea"/>
                <a:cs typeface="+mn-cs"/>
              </a:defRPr>
            </a:lvl4pPr>
            <a:lvl5pPr marL="1828800" indent="0" algn="ctr" eaLnBrk="1" hangingPunct="1">
              <a:buNone/>
              <a:defRPr sz="1600">
                <a:latin typeface="+mn-lt"/>
                <a:ea typeface="+mn-ea"/>
                <a:cs typeface="+mn-cs"/>
              </a:defRPr>
            </a:lvl5pPr>
            <a:lvl6pPr marL="2286000" indent="0" algn="ctr" eaLnBrk="1" hangingPunct="1">
              <a:buNone/>
              <a:defRPr sz="1600">
                <a:latin typeface="+mn-lt"/>
                <a:ea typeface="+mn-ea"/>
                <a:cs typeface="+mn-cs"/>
              </a:defRPr>
            </a:lvl6pPr>
            <a:lvl7pPr marL="2743200" indent="0" algn="ctr" eaLnBrk="1" hangingPunct="1">
              <a:buNone/>
              <a:defRPr sz="1600">
                <a:latin typeface="+mn-lt"/>
                <a:ea typeface="+mn-ea"/>
                <a:cs typeface="+mn-cs"/>
              </a:defRPr>
            </a:lvl7pPr>
            <a:lvl8pPr marL="3200400" indent="0" algn="ctr" eaLnBrk="1" hangingPunct="1">
              <a:buNone/>
              <a:defRPr sz="1600">
                <a:latin typeface="+mn-lt"/>
                <a:ea typeface="+mn-ea"/>
                <a:cs typeface="+mn-cs"/>
              </a:defRPr>
            </a:lvl8pPr>
            <a:lvl9pPr marL="3657600" indent="0" algn="ctr" eaLnBrk="1" hangingPunct="1">
              <a:buNone/>
              <a:defRPr sz="1600">
                <a:latin typeface="+mn-lt"/>
                <a:ea typeface="+mn-ea"/>
                <a:cs typeface="+mn-cs"/>
              </a:defRPr>
            </a:lvl9pPr>
          </a:lstStyle>
          <a:p>
            <a:pPr>
              <a:spcBef>
                <a:spcPts val="300"/>
              </a:spcBef>
            </a:pPr>
            <a:endParaRPr lang="uk-UA" sz="1800" dirty="0">
              <a:solidFill>
                <a:srgbClr val="002060"/>
              </a:solidFill>
            </a:endParaRPr>
          </a:p>
          <a:p>
            <a:pPr>
              <a:spcBef>
                <a:spcPts val="300"/>
              </a:spcBef>
            </a:pPr>
            <a:r>
              <a:rPr lang="en-US" sz="1500" b="1" dirty="0">
                <a:solidFill>
                  <a:srgbClr val="002060"/>
                </a:solidFill>
              </a:rPr>
              <a:t>Sequence diagram </a:t>
            </a:r>
            <a:endParaRPr lang="uk-UA" sz="1500" b="1" dirty="0">
              <a:solidFill>
                <a:srgbClr val="002060"/>
              </a:solidFill>
            </a:endParaRPr>
          </a:p>
        </p:txBody>
      </p:sp>
      <p:sp>
        <p:nvSpPr>
          <p:cNvPr id="11" name="Підзаголовок 2">
            <a:extLst>
              <a:ext uri="{FF2B5EF4-FFF2-40B4-BE49-F238E27FC236}">
                <a16:creationId xmlns:a16="http://schemas.microsoft.com/office/drawing/2014/main" id="{4E78D095-893D-0BAE-3E7C-A95FEC58DBCF}"/>
              </a:ext>
            </a:extLst>
          </p:cNvPr>
          <p:cNvSpPr txBox="1">
            <a:spLocks/>
          </p:cNvSpPr>
          <p:nvPr/>
        </p:nvSpPr>
        <p:spPr>
          <a:xfrm>
            <a:off x="2933830" y="5791980"/>
            <a:ext cx="1600850" cy="546303"/>
          </a:xfrm>
          <a:prstGeom prst="rect">
            <a:avLst/>
          </a:prstGeom>
        </p:spPr>
        <p:txBody>
          <a:bodyPr wrap="square" lIns="0" tIns="0" rIns="0" bIns="0">
            <a:spAutoFit/>
          </a:bodyPr>
          <a:lstStyle>
            <a:lvl1pPr marL="0" indent="0" algn="ctr" eaLnBrk="1" hangingPunct="1">
              <a:buNone/>
              <a:defRPr sz="2400" b="0" i="0">
                <a:solidFill>
                  <a:schemeClr val="bg1"/>
                </a:solidFill>
                <a:latin typeface="Calibri"/>
                <a:ea typeface="+mn-ea"/>
                <a:cs typeface="Calibri"/>
              </a:defRPr>
            </a:lvl1pPr>
            <a:lvl2pPr marL="457200" indent="0" algn="ctr" eaLnBrk="1" hangingPunct="1">
              <a:buNone/>
              <a:defRPr sz="2000">
                <a:latin typeface="+mn-lt"/>
                <a:ea typeface="+mn-ea"/>
                <a:cs typeface="+mn-cs"/>
              </a:defRPr>
            </a:lvl2pPr>
            <a:lvl3pPr marL="914400" indent="0" algn="ctr" eaLnBrk="1" hangingPunct="1">
              <a:buNone/>
              <a:defRPr sz="1800">
                <a:latin typeface="+mn-lt"/>
                <a:ea typeface="+mn-ea"/>
                <a:cs typeface="+mn-cs"/>
              </a:defRPr>
            </a:lvl3pPr>
            <a:lvl4pPr marL="1371600" indent="0" algn="ctr" eaLnBrk="1" hangingPunct="1">
              <a:buNone/>
              <a:defRPr sz="1600">
                <a:latin typeface="+mn-lt"/>
                <a:ea typeface="+mn-ea"/>
                <a:cs typeface="+mn-cs"/>
              </a:defRPr>
            </a:lvl4pPr>
            <a:lvl5pPr marL="1828800" indent="0" algn="ctr" eaLnBrk="1" hangingPunct="1">
              <a:buNone/>
              <a:defRPr sz="1600">
                <a:latin typeface="+mn-lt"/>
                <a:ea typeface="+mn-ea"/>
                <a:cs typeface="+mn-cs"/>
              </a:defRPr>
            </a:lvl5pPr>
            <a:lvl6pPr marL="2286000" indent="0" algn="ctr" eaLnBrk="1" hangingPunct="1">
              <a:buNone/>
              <a:defRPr sz="1600">
                <a:latin typeface="+mn-lt"/>
                <a:ea typeface="+mn-ea"/>
                <a:cs typeface="+mn-cs"/>
              </a:defRPr>
            </a:lvl6pPr>
            <a:lvl7pPr marL="2743200" indent="0" algn="ctr" eaLnBrk="1" hangingPunct="1">
              <a:buNone/>
              <a:defRPr sz="1600">
                <a:latin typeface="+mn-lt"/>
                <a:ea typeface="+mn-ea"/>
                <a:cs typeface="+mn-cs"/>
              </a:defRPr>
            </a:lvl7pPr>
            <a:lvl8pPr marL="3200400" indent="0" algn="ctr" eaLnBrk="1" hangingPunct="1">
              <a:buNone/>
              <a:defRPr sz="1600">
                <a:latin typeface="+mn-lt"/>
                <a:ea typeface="+mn-ea"/>
                <a:cs typeface="+mn-cs"/>
              </a:defRPr>
            </a:lvl8pPr>
            <a:lvl9pPr marL="3657600" indent="0" algn="ctr" eaLnBrk="1" hangingPunct="1">
              <a:buNone/>
              <a:defRPr sz="1600">
                <a:latin typeface="+mn-lt"/>
                <a:ea typeface="+mn-ea"/>
                <a:cs typeface="+mn-cs"/>
              </a:defRPr>
            </a:lvl9pPr>
          </a:lstStyle>
          <a:p>
            <a:pPr>
              <a:spcBef>
                <a:spcPts val="300"/>
              </a:spcBef>
            </a:pPr>
            <a:endParaRPr lang="uk-UA" sz="1800" dirty="0">
              <a:solidFill>
                <a:srgbClr val="002060"/>
              </a:solidFill>
            </a:endParaRPr>
          </a:p>
          <a:p>
            <a:pPr>
              <a:spcBef>
                <a:spcPts val="300"/>
              </a:spcBef>
            </a:pPr>
            <a:r>
              <a:rPr lang="en-US" sz="1500" b="1" dirty="0">
                <a:solidFill>
                  <a:srgbClr val="002060"/>
                </a:solidFill>
              </a:rPr>
              <a:t>Use case diagram</a:t>
            </a:r>
            <a:endParaRPr lang="uk-UA" sz="1500" b="1" dirty="0">
              <a:solidFill>
                <a:srgbClr val="002060"/>
              </a:solidFill>
            </a:endParaRPr>
          </a:p>
        </p:txBody>
      </p:sp>
    </p:spTree>
    <p:extLst>
      <p:ext uri="{BB962C8B-B14F-4D97-AF65-F5344CB8AC3E}">
        <p14:creationId xmlns:p14="http://schemas.microsoft.com/office/powerpoint/2010/main" val="943033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FDFBB-B201-4C9A-5168-8F83D052676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1D0BDE-C64C-4699-4E1F-4A3C6123AFC7}"/>
              </a:ext>
            </a:extLst>
          </p:cNvPr>
          <p:cNvSpPr>
            <a:spLocks noGrp="1"/>
          </p:cNvSpPr>
          <p:nvPr>
            <p:ph type="ctrTitle"/>
          </p:nvPr>
        </p:nvSpPr>
        <p:spPr>
          <a:xfrm>
            <a:off x="1524000" y="1058432"/>
            <a:ext cx="9144000" cy="2769989"/>
          </a:xfrm>
        </p:spPr>
        <p:txBody>
          <a:bodyPr/>
          <a:lstStyle/>
          <a:p>
            <a:r>
              <a:rPr lang="uk-UA" dirty="0">
                <a:solidFill>
                  <a:srgbClr val="002060"/>
                </a:solidFill>
              </a:rPr>
              <a:t>Проєктування системи</a:t>
            </a:r>
            <a:br>
              <a:rPr lang="uk-UA" dirty="0">
                <a:solidFill>
                  <a:srgbClr val="002060"/>
                </a:solidFill>
              </a:rPr>
            </a:br>
            <a:br>
              <a:rPr lang="uk-UA" dirty="0">
                <a:solidFill>
                  <a:srgbClr val="002060"/>
                </a:solidFill>
              </a:rPr>
            </a:br>
            <a:endParaRPr lang="uk-UA" dirty="0"/>
          </a:p>
        </p:txBody>
      </p:sp>
      <p:sp>
        <p:nvSpPr>
          <p:cNvPr id="4" name="TextBox 3">
            <a:extLst>
              <a:ext uri="{FF2B5EF4-FFF2-40B4-BE49-F238E27FC236}">
                <a16:creationId xmlns:a16="http://schemas.microsoft.com/office/drawing/2014/main" id="{E741DCF9-034C-0180-D8AB-024E5F1E6C96}"/>
              </a:ext>
            </a:extLst>
          </p:cNvPr>
          <p:cNvSpPr txBox="1"/>
          <p:nvPr/>
        </p:nvSpPr>
        <p:spPr>
          <a:xfrm>
            <a:off x="9515061" y="6350230"/>
            <a:ext cx="2650435" cy="461665"/>
          </a:xfrm>
          <a:prstGeom prst="rect">
            <a:avLst/>
          </a:prstGeom>
          <a:noFill/>
        </p:spPr>
        <p:txBody>
          <a:bodyPr wrap="square" rtlCol="0">
            <a:spAutoFit/>
          </a:bodyPr>
          <a:lstStyle/>
          <a:p>
            <a:pPr algn="r"/>
            <a:r>
              <a:rPr lang="uk-UA" sz="2400" dirty="0">
                <a:solidFill>
                  <a:schemeClr val="bg1"/>
                </a:solidFill>
              </a:rPr>
              <a:t>7/16</a:t>
            </a:r>
          </a:p>
        </p:txBody>
      </p:sp>
      <p:sp>
        <p:nvSpPr>
          <p:cNvPr id="5" name="TextBox 4">
            <a:extLst>
              <a:ext uri="{FF2B5EF4-FFF2-40B4-BE49-F238E27FC236}">
                <a16:creationId xmlns:a16="http://schemas.microsoft.com/office/drawing/2014/main" id="{F8CBEC34-A84E-D181-D00B-B5BD229968C6}"/>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3" name="Підзаголовок 2">
            <a:extLst>
              <a:ext uri="{FF2B5EF4-FFF2-40B4-BE49-F238E27FC236}">
                <a16:creationId xmlns:a16="http://schemas.microsoft.com/office/drawing/2014/main" id="{D60933F3-EF39-E58D-876B-157ED614FFC9}"/>
              </a:ext>
            </a:extLst>
          </p:cNvPr>
          <p:cNvSpPr>
            <a:spLocks noGrp="1"/>
          </p:cNvSpPr>
          <p:nvPr>
            <p:ph type="subTitle" idx="1"/>
          </p:nvPr>
        </p:nvSpPr>
        <p:spPr>
          <a:xfrm>
            <a:off x="268705" y="1981761"/>
            <a:ext cx="11654590" cy="3962623"/>
          </a:xfrm>
        </p:spPr>
        <p:txBody>
          <a:bodyPr/>
          <a:lstStyle/>
          <a:p>
            <a:pPr algn="just">
              <a:spcBef>
                <a:spcPts val="300"/>
              </a:spcBef>
            </a:pPr>
            <a:r>
              <a:rPr lang="uk-UA" sz="1500" b="1" dirty="0">
                <a:solidFill>
                  <a:srgbClr val="002060"/>
                </a:solidFill>
              </a:rPr>
              <a:t>Математичні моделі, які було запропоновано в роботі</a:t>
            </a:r>
          </a:p>
          <a:p>
            <a:pPr algn="just">
              <a:spcBef>
                <a:spcPts val="300"/>
              </a:spcBef>
            </a:pPr>
            <a:r>
              <a:rPr lang="uk-UA" sz="1500" dirty="0">
                <a:solidFill>
                  <a:srgbClr val="002060"/>
                </a:solidFill>
              </a:rPr>
              <a:t>У вебзастосунку «Теплоенергетик» основою роботи є набір теплоенергетичних формул, які використовуються для виконання розрахунків у різних розділах. До них належать формули для визначення кількості теплоти, теплової потужності, теплопередачі, теплопровідності, параметрів води й пари, газових процесів, палива та теплових машин.</a:t>
            </a:r>
          </a:p>
          <a:p>
            <a:pPr algn="just">
              <a:spcBef>
                <a:spcPts val="300"/>
              </a:spcBef>
            </a:pPr>
            <a:r>
              <a:rPr lang="uk-UA" sz="1500" dirty="0">
                <a:solidFill>
                  <a:srgbClr val="002060"/>
                </a:solidFill>
              </a:rPr>
              <a:t>Також у роботі використано модель збереження даних користувача. Результати розрахунків зберігаються в базі даних разом із назвою формули, вхідними параметрами, результатом, одиницями вимірювання та датою створення запису. Це дозволяє формувати журнал розрахунків і додавати потрібні результати до окремих </a:t>
            </a:r>
            <a:r>
              <a:rPr lang="uk-UA" sz="1500" dirty="0" err="1">
                <a:solidFill>
                  <a:srgbClr val="002060"/>
                </a:solidFill>
              </a:rPr>
              <a:t>проєктів.Архітектура</a:t>
            </a:r>
            <a:r>
              <a:rPr lang="uk-UA" sz="1500" dirty="0">
                <a:solidFill>
                  <a:srgbClr val="002060"/>
                </a:solidFill>
              </a:rPr>
              <a:t> системи</a:t>
            </a:r>
          </a:p>
          <a:p>
            <a:pPr algn="just">
              <a:spcBef>
                <a:spcPts val="300"/>
              </a:spcBef>
            </a:pPr>
            <a:r>
              <a:rPr lang="uk-UA" sz="1500" b="1" dirty="0">
                <a:solidFill>
                  <a:srgbClr val="002060"/>
                </a:solidFill>
              </a:rPr>
              <a:t>Архітектура вебзастосунку побудована за клієнт-серверним принципом:</a:t>
            </a:r>
          </a:p>
          <a:p>
            <a:pPr algn="just">
              <a:spcBef>
                <a:spcPts val="300"/>
              </a:spcBef>
            </a:pPr>
            <a:r>
              <a:rPr lang="uk-UA" sz="1500" b="1" dirty="0">
                <a:solidFill>
                  <a:srgbClr val="002060"/>
                </a:solidFill>
              </a:rPr>
              <a:t>Клієнтська частина: </a:t>
            </a:r>
            <a:r>
              <a:rPr lang="uk-UA" sz="1500" dirty="0">
                <a:solidFill>
                  <a:srgbClr val="002060"/>
                </a:solidFill>
              </a:rPr>
              <a:t>Відповідає за інтерфейс користувача, введення даних, виконання розрахунків, побудову графіків, відображення результатів, роботу з проєктами та експорт файлів. Вона реалізована за допомогою </a:t>
            </a:r>
            <a:r>
              <a:rPr lang="en-US" sz="1500" dirty="0">
                <a:solidFill>
                  <a:srgbClr val="002060"/>
                </a:solidFill>
              </a:rPr>
              <a:t>HTML, CSS, JavaScript </a:t>
            </a:r>
            <a:r>
              <a:rPr lang="uk-UA" sz="1500" dirty="0">
                <a:solidFill>
                  <a:srgbClr val="002060"/>
                </a:solidFill>
              </a:rPr>
              <a:t>і </a:t>
            </a:r>
            <a:r>
              <a:rPr lang="en-US" sz="1500" dirty="0">
                <a:solidFill>
                  <a:srgbClr val="002060"/>
                </a:solidFill>
              </a:rPr>
              <a:t>Bootstrap.</a:t>
            </a:r>
            <a:endParaRPr lang="uk-UA" sz="1500" dirty="0">
              <a:solidFill>
                <a:srgbClr val="002060"/>
              </a:solidFill>
            </a:endParaRPr>
          </a:p>
          <a:p>
            <a:pPr algn="just">
              <a:spcBef>
                <a:spcPts val="300"/>
              </a:spcBef>
            </a:pPr>
            <a:r>
              <a:rPr lang="uk-UA" sz="1500" b="1" dirty="0">
                <a:solidFill>
                  <a:srgbClr val="002060"/>
                </a:solidFill>
              </a:rPr>
              <a:t>Сервісний рівень: </a:t>
            </a:r>
            <a:r>
              <a:rPr lang="uk-UA" sz="1500" dirty="0">
                <a:solidFill>
                  <a:srgbClr val="002060"/>
                </a:solidFill>
              </a:rPr>
              <a:t>Взаємодія з базою даних та авторизацією виконується через </a:t>
            </a:r>
            <a:r>
              <a:rPr lang="en-US" sz="1500" dirty="0" err="1">
                <a:solidFill>
                  <a:srgbClr val="002060"/>
                </a:solidFill>
              </a:rPr>
              <a:t>Supabase</a:t>
            </a:r>
            <a:r>
              <a:rPr lang="en-US" sz="1500" dirty="0">
                <a:solidFill>
                  <a:srgbClr val="002060"/>
                </a:solidFill>
              </a:rPr>
              <a:t> JavaScript SDK. </a:t>
            </a:r>
            <a:r>
              <a:rPr lang="uk-UA" sz="1500" dirty="0">
                <a:solidFill>
                  <a:srgbClr val="002060"/>
                </a:solidFill>
              </a:rPr>
              <a:t>Через нього сайт отримує дані користувача, зберігає розрахунки, проєкти, налаштування профілю та перевіряє права доступу.</a:t>
            </a:r>
          </a:p>
          <a:p>
            <a:pPr algn="just">
              <a:spcBef>
                <a:spcPts val="300"/>
              </a:spcBef>
            </a:pPr>
            <a:r>
              <a:rPr lang="uk-UA" sz="1500" b="1" dirty="0">
                <a:solidFill>
                  <a:srgbClr val="002060"/>
                </a:solidFill>
              </a:rPr>
              <a:t>Рівень бази даних: </a:t>
            </a:r>
            <a:r>
              <a:rPr lang="en-US" sz="1500" dirty="0" err="1">
                <a:solidFill>
                  <a:srgbClr val="002060"/>
                </a:solidFill>
              </a:rPr>
              <a:t>Supabase</a:t>
            </a:r>
            <a:r>
              <a:rPr lang="en-US" sz="1500" dirty="0">
                <a:solidFill>
                  <a:srgbClr val="002060"/>
                </a:solidFill>
              </a:rPr>
              <a:t> Database </a:t>
            </a:r>
            <a:r>
              <a:rPr lang="uk-UA" sz="1500" dirty="0">
                <a:solidFill>
                  <a:srgbClr val="002060"/>
                </a:solidFill>
              </a:rPr>
              <a:t>використовується для збереження профілів користувачів, історії розрахунків, проєктів і елементів проєктів. Для захисту інформації застосовано </a:t>
            </a:r>
            <a:r>
              <a:rPr lang="en-US" sz="1500" dirty="0">
                <a:solidFill>
                  <a:srgbClr val="002060"/>
                </a:solidFill>
              </a:rPr>
              <a:t>Row Level Security, </a:t>
            </a:r>
            <a:r>
              <a:rPr lang="uk-UA" sz="1500" dirty="0">
                <a:solidFill>
                  <a:srgbClr val="002060"/>
                </a:solidFill>
              </a:rPr>
              <a:t>що дозволяє користувачу працювати лише зі своїми даними.</a:t>
            </a:r>
          </a:p>
          <a:p>
            <a:pPr algn="just">
              <a:spcBef>
                <a:spcPts val="300"/>
              </a:spcBef>
            </a:pPr>
            <a:r>
              <a:rPr lang="uk-UA" sz="1500" b="1" dirty="0">
                <a:solidFill>
                  <a:srgbClr val="002060"/>
                </a:solidFill>
              </a:rPr>
              <a:t>Серверна функція: </a:t>
            </a:r>
            <a:r>
              <a:rPr lang="uk-UA" sz="1500" dirty="0">
                <a:solidFill>
                  <a:srgbClr val="002060"/>
                </a:solidFill>
              </a:rPr>
              <a:t>Для повного видалення акаунта використовується </a:t>
            </a:r>
            <a:r>
              <a:rPr lang="en-US" sz="1500" dirty="0" err="1">
                <a:solidFill>
                  <a:srgbClr val="002060"/>
                </a:solidFill>
              </a:rPr>
              <a:t>Supabase</a:t>
            </a:r>
            <a:r>
              <a:rPr lang="en-US" sz="1500" dirty="0">
                <a:solidFill>
                  <a:srgbClr val="002060"/>
                </a:solidFill>
              </a:rPr>
              <a:t> Edge Function. </a:t>
            </a:r>
            <a:r>
              <a:rPr lang="uk-UA" sz="1500" dirty="0">
                <a:solidFill>
                  <a:srgbClr val="002060"/>
                </a:solidFill>
              </a:rPr>
              <a:t>Вона виконує серверну операцію видалення користувача з бази даних і системи авторизації, оскільки такі дії не можна безпечно виконувати лише з клієнтської частини.</a:t>
            </a:r>
          </a:p>
        </p:txBody>
      </p:sp>
    </p:spTree>
    <p:extLst>
      <p:ext uri="{BB962C8B-B14F-4D97-AF65-F5344CB8AC3E}">
        <p14:creationId xmlns:p14="http://schemas.microsoft.com/office/powerpoint/2010/main" val="3663915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9AA5F-3407-EB77-67B5-350098CEE35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9BEB3A-E682-01F0-F56F-7007F2DAEC7B}"/>
              </a:ext>
            </a:extLst>
          </p:cNvPr>
          <p:cNvSpPr>
            <a:spLocks noGrp="1"/>
          </p:cNvSpPr>
          <p:nvPr>
            <p:ph type="ctrTitle"/>
          </p:nvPr>
        </p:nvSpPr>
        <p:spPr>
          <a:xfrm>
            <a:off x="1524000" y="1058432"/>
            <a:ext cx="9144000" cy="2769989"/>
          </a:xfrm>
        </p:spPr>
        <p:txBody>
          <a:bodyPr/>
          <a:lstStyle/>
          <a:p>
            <a:r>
              <a:rPr lang="uk-UA" dirty="0">
                <a:solidFill>
                  <a:srgbClr val="002060"/>
                </a:solidFill>
              </a:rPr>
              <a:t>Проєктування системи</a:t>
            </a:r>
            <a:br>
              <a:rPr lang="uk-UA" dirty="0">
                <a:solidFill>
                  <a:srgbClr val="002060"/>
                </a:solidFill>
              </a:rPr>
            </a:br>
            <a:br>
              <a:rPr lang="uk-UA" dirty="0">
                <a:solidFill>
                  <a:srgbClr val="002060"/>
                </a:solidFill>
              </a:rPr>
            </a:br>
            <a:endParaRPr lang="uk-UA" dirty="0"/>
          </a:p>
        </p:txBody>
      </p:sp>
      <p:sp>
        <p:nvSpPr>
          <p:cNvPr id="4" name="TextBox 3">
            <a:extLst>
              <a:ext uri="{FF2B5EF4-FFF2-40B4-BE49-F238E27FC236}">
                <a16:creationId xmlns:a16="http://schemas.microsoft.com/office/drawing/2014/main" id="{931A2A32-A766-BBCA-0A91-CA81BADC939D}"/>
              </a:ext>
            </a:extLst>
          </p:cNvPr>
          <p:cNvSpPr txBox="1"/>
          <p:nvPr/>
        </p:nvSpPr>
        <p:spPr>
          <a:xfrm>
            <a:off x="9515061" y="6350230"/>
            <a:ext cx="2650435" cy="461665"/>
          </a:xfrm>
          <a:prstGeom prst="rect">
            <a:avLst/>
          </a:prstGeom>
          <a:noFill/>
        </p:spPr>
        <p:txBody>
          <a:bodyPr wrap="square" rtlCol="0">
            <a:spAutoFit/>
          </a:bodyPr>
          <a:lstStyle/>
          <a:p>
            <a:pPr algn="r"/>
            <a:r>
              <a:rPr lang="uk-UA" sz="2400" dirty="0">
                <a:solidFill>
                  <a:schemeClr val="bg1"/>
                </a:solidFill>
              </a:rPr>
              <a:t>8/16</a:t>
            </a:r>
          </a:p>
        </p:txBody>
      </p:sp>
      <p:sp>
        <p:nvSpPr>
          <p:cNvPr id="5" name="TextBox 4">
            <a:extLst>
              <a:ext uri="{FF2B5EF4-FFF2-40B4-BE49-F238E27FC236}">
                <a16:creationId xmlns:a16="http://schemas.microsoft.com/office/drawing/2014/main" id="{F98606E5-30F9-EA15-019B-88202E59F865}"/>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3" name="Підзаголовок 2">
            <a:extLst>
              <a:ext uri="{FF2B5EF4-FFF2-40B4-BE49-F238E27FC236}">
                <a16:creationId xmlns:a16="http://schemas.microsoft.com/office/drawing/2014/main" id="{FCB30586-AF72-981E-620A-F84B7B25E141}"/>
              </a:ext>
            </a:extLst>
          </p:cNvPr>
          <p:cNvSpPr>
            <a:spLocks noGrp="1"/>
          </p:cNvSpPr>
          <p:nvPr>
            <p:ph type="subTitle" idx="1"/>
          </p:nvPr>
        </p:nvSpPr>
        <p:spPr>
          <a:xfrm>
            <a:off x="268705" y="2061950"/>
            <a:ext cx="11654590" cy="3731791"/>
          </a:xfrm>
        </p:spPr>
        <p:txBody>
          <a:bodyPr/>
          <a:lstStyle/>
          <a:p>
            <a:pPr algn="just">
              <a:spcBef>
                <a:spcPts val="300"/>
              </a:spcBef>
            </a:pPr>
            <a:r>
              <a:rPr lang="uk-UA" sz="1500" b="1" dirty="0">
                <a:solidFill>
                  <a:srgbClr val="002060"/>
                </a:solidFill>
              </a:rPr>
              <a:t>Функціональні вимоги:</a:t>
            </a:r>
          </a:p>
          <a:p>
            <a:pPr marL="285750" indent="-285750" algn="just">
              <a:spcBef>
                <a:spcPts val="300"/>
              </a:spcBef>
              <a:buFont typeface="Arial" panose="020B0604020202020204" pitchFamily="34" charset="0"/>
              <a:buChar char="•"/>
            </a:pPr>
            <a:r>
              <a:rPr lang="uk-UA" sz="1500" dirty="0">
                <a:solidFill>
                  <a:srgbClr val="002060"/>
                </a:solidFill>
              </a:rPr>
              <a:t>реєстрація, авторизація та відновлення пароля користувача;</a:t>
            </a:r>
          </a:p>
          <a:p>
            <a:pPr marL="285750" indent="-285750" algn="just">
              <a:spcBef>
                <a:spcPts val="300"/>
              </a:spcBef>
              <a:buFont typeface="Arial" panose="020B0604020202020204" pitchFamily="34" charset="0"/>
              <a:buChar char="•"/>
            </a:pPr>
            <a:r>
              <a:rPr lang="uk-UA" sz="1500" dirty="0">
                <a:solidFill>
                  <a:srgbClr val="002060"/>
                </a:solidFill>
              </a:rPr>
              <a:t>редагування профілю, </a:t>
            </a:r>
            <a:r>
              <a:rPr lang="uk-UA" sz="1500" dirty="0" err="1">
                <a:solidFill>
                  <a:srgbClr val="002060"/>
                </a:solidFill>
              </a:rPr>
              <a:t>аватара</a:t>
            </a:r>
            <a:r>
              <a:rPr lang="uk-UA" sz="1500" dirty="0">
                <a:solidFill>
                  <a:srgbClr val="002060"/>
                </a:solidFill>
              </a:rPr>
              <a:t>, пароля та налаштувань інтерфейсу;</a:t>
            </a:r>
          </a:p>
          <a:p>
            <a:pPr marL="285750" indent="-285750" algn="just">
              <a:spcBef>
                <a:spcPts val="300"/>
              </a:spcBef>
              <a:buFont typeface="Arial" panose="020B0604020202020204" pitchFamily="34" charset="0"/>
              <a:buChar char="•"/>
            </a:pPr>
            <a:r>
              <a:rPr lang="uk-UA" sz="1500" dirty="0">
                <a:solidFill>
                  <a:srgbClr val="002060"/>
                </a:solidFill>
              </a:rPr>
              <a:t>виконання теплоенергетичних розрахунків і збереження їх в історії;</a:t>
            </a:r>
          </a:p>
          <a:p>
            <a:pPr marL="285750" indent="-285750" algn="just">
              <a:spcBef>
                <a:spcPts val="300"/>
              </a:spcBef>
              <a:buFont typeface="Arial" panose="020B0604020202020204" pitchFamily="34" charset="0"/>
              <a:buChar char="•"/>
            </a:pPr>
            <a:r>
              <a:rPr lang="uk-UA" sz="1500" dirty="0">
                <a:solidFill>
                  <a:srgbClr val="002060"/>
                </a:solidFill>
              </a:rPr>
              <a:t>створення проєктів із нотатками, розрахунками та зміною порядку елементів;</a:t>
            </a:r>
          </a:p>
          <a:p>
            <a:pPr marL="285750" indent="-285750" algn="just">
              <a:spcBef>
                <a:spcPts val="300"/>
              </a:spcBef>
              <a:buFont typeface="Arial" panose="020B0604020202020204" pitchFamily="34" charset="0"/>
              <a:buChar char="•"/>
            </a:pPr>
            <a:r>
              <a:rPr lang="uk-UA" sz="1500" dirty="0">
                <a:solidFill>
                  <a:srgbClr val="002060"/>
                </a:solidFill>
              </a:rPr>
              <a:t>пошук і фільтрація даних у журналі та довіднику;</a:t>
            </a:r>
          </a:p>
          <a:p>
            <a:pPr marL="285750" indent="-285750" algn="just">
              <a:spcBef>
                <a:spcPts val="300"/>
              </a:spcBef>
              <a:buFont typeface="Arial" panose="020B0604020202020204" pitchFamily="34" charset="0"/>
              <a:buChar char="•"/>
            </a:pPr>
            <a:r>
              <a:rPr lang="uk-UA" sz="1500" dirty="0">
                <a:solidFill>
                  <a:srgbClr val="002060"/>
                </a:solidFill>
              </a:rPr>
              <a:t>експорт результатів у </a:t>
            </a:r>
            <a:r>
              <a:rPr lang="en-US" sz="1500" dirty="0">
                <a:solidFill>
                  <a:srgbClr val="002060"/>
                </a:solidFill>
              </a:rPr>
              <a:t>CSV, XLSX, PDF </a:t>
            </a:r>
            <a:r>
              <a:rPr lang="uk-UA" sz="1500" dirty="0">
                <a:solidFill>
                  <a:srgbClr val="002060"/>
                </a:solidFill>
              </a:rPr>
              <a:t>і </a:t>
            </a:r>
            <a:r>
              <a:rPr lang="en-US" sz="1500" dirty="0">
                <a:solidFill>
                  <a:srgbClr val="002060"/>
                </a:solidFill>
              </a:rPr>
              <a:t>DOCX;</a:t>
            </a:r>
            <a:endParaRPr lang="uk-UA" sz="1500" dirty="0">
              <a:solidFill>
                <a:srgbClr val="002060"/>
              </a:solidFill>
            </a:endParaRPr>
          </a:p>
          <a:p>
            <a:pPr marL="285750" indent="-285750" algn="just">
              <a:spcBef>
                <a:spcPts val="300"/>
              </a:spcBef>
              <a:buFont typeface="Arial" panose="020B0604020202020204" pitchFamily="34" charset="0"/>
              <a:buChar char="•"/>
            </a:pPr>
            <a:r>
              <a:rPr lang="uk-UA" sz="1500" dirty="0">
                <a:solidFill>
                  <a:srgbClr val="002060"/>
                </a:solidFill>
              </a:rPr>
              <a:t>доступ адміністратора до перегляду користувачів, розрахунків і проєктів.</a:t>
            </a:r>
          </a:p>
          <a:p>
            <a:pPr algn="just">
              <a:spcBef>
                <a:spcPts val="300"/>
              </a:spcBef>
            </a:pPr>
            <a:r>
              <a:rPr lang="uk-UA" sz="1500" b="1" dirty="0">
                <a:solidFill>
                  <a:srgbClr val="002060"/>
                </a:solidFill>
              </a:rPr>
              <a:t>Нефункціональні вимоги:</a:t>
            </a:r>
          </a:p>
          <a:p>
            <a:pPr marL="285750" indent="-285750" algn="just">
              <a:spcBef>
                <a:spcPts val="300"/>
              </a:spcBef>
              <a:buFont typeface="Arial" panose="020B0604020202020204" pitchFamily="34" charset="0"/>
              <a:buChar char="•"/>
            </a:pPr>
            <a:r>
              <a:rPr lang="uk-UA" sz="1500" b="1" dirty="0">
                <a:solidFill>
                  <a:srgbClr val="002060"/>
                </a:solidFill>
              </a:rPr>
              <a:t>безпека</a:t>
            </a:r>
            <a:r>
              <a:rPr lang="uk-UA" sz="1500" dirty="0">
                <a:solidFill>
                  <a:srgbClr val="002060"/>
                </a:solidFill>
              </a:rPr>
              <a:t> – авторизація, захист даних користувачів і </a:t>
            </a:r>
            <a:r>
              <a:rPr lang="en-US" sz="1500" dirty="0">
                <a:solidFill>
                  <a:srgbClr val="002060"/>
                </a:solidFill>
              </a:rPr>
              <a:t>Row Level Security;</a:t>
            </a:r>
            <a:endParaRPr lang="uk-UA" sz="1500" dirty="0">
              <a:solidFill>
                <a:srgbClr val="002060"/>
              </a:solidFill>
            </a:endParaRPr>
          </a:p>
          <a:p>
            <a:pPr marL="285750" indent="-285750" algn="just">
              <a:spcBef>
                <a:spcPts val="300"/>
              </a:spcBef>
              <a:buFont typeface="Arial" panose="020B0604020202020204" pitchFamily="34" charset="0"/>
              <a:buChar char="•"/>
            </a:pPr>
            <a:r>
              <a:rPr lang="uk-UA" sz="1500" b="1" dirty="0">
                <a:solidFill>
                  <a:srgbClr val="002060"/>
                </a:solidFill>
              </a:rPr>
              <a:t>зручність</a:t>
            </a:r>
            <a:r>
              <a:rPr lang="uk-UA" sz="1500" dirty="0">
                <a:solidFill>
                  <a:srgbClr val="002060"/>
                </a:solidFill>
              </a:rPr>
              <a:t> – зрозумілий інтерфейс, адаптивність і повідомлення про помилки;</a:t>
            </a:r>
          </a:p>
          <a:p>
            <a:pPr marL="285750" indent="-285750" algn="just">
              <a:spcBef>
                <a:spcPts val="300"/>
              </a:spcBef>
              <a:buFont typeface="Arial" panose="020B0604020202020204" pitchFamily="34" charset="0"/>
              <a:buChar char="•"/>
            </a:pPr>
            <a:r>
              <a:rPr lang="uk-UA" sz="1500" b="1" dirty="0">
                <a:solidFill>
                  <a:srgbClr val="002060"/>
                </a:solidFill>
              </a:rPr>
              <a:t>надійність</a:t>
            </a:r>
            <a:r>
              <a:rPr lang="uk-UA" sz="1500" dirty="0">
                <a:solidFill>
                  <a:srgbClr val="002060"/>
                </a:solidFill>
              </a:rPr>
              <a:t> – збереження профілю, історії та проєктів у базі даних;</a:t>
            </a:r>
          </a:p>
          <a:p>
            <a:pPr marL="285750" indent="-285750" algn="just">
              <a:spcBef>
                <a:spcPts val="300"/>
              </a:spcBef>
              <a:buFont typeface="Arial" panose="020B0604020202020204" pitchFamily="34" charset="0"/>
              <a:buChar char="•"/>
            </a:pPr>
            <a:r>
              <a:rPr lang="uk-UA" sz="1500" b="1" dirty="0">
                <a:solidFill>
                  <a:srgbClr val="002060"/>
                </a:solidFill>
              </a:rPr>
              <a:t>масштабованість</a:t>
            </a:r>
            <a:r>
              <a:rPr lang="uk-UA" sz="1500" dirty="0">
                <a:solidFill>
                  <a:srgbClr val="002060"/>
                </a:solidFill>
              </a:rPr>
              <a:t> – можливість додавання нових формул, розділів і функцій;</a:t>
            </a:r>
          </a:p>
          <a:p>
            <a:pPr marL="285750" indent="-285750" algn="just">
              <a:spcBef>
                <a:spcPts val="300"/>
              </a:spcBef>
              <a:buFont typeface="Arial" panose="020B0604020202020204" pitchFamily="34" charset="0"/>
              <a:buChar char="•"/>
            </a:pPr>
            <a:r>
              <a:rPr lang="uk-UA" sz="1500" b="1" dirty="0">
                <a:solidFill>
                  <a:srgbClr val="002060"/>
                </a:solidFill>
              </a:rPr>
              <a:t>сумісність</a:t>
            </a:r>
            <a:r>
              <a:rPr lang="uk-UA" sz="1500" dirty="0">
                <a:solidFill>
                  <a:srgbClr val="002060"/>
                </a:solidFill>
              </a:rPr>
              <a:t> – робота у сучасних браузерах на різних пристроях.</a:t>
            </a:r>
          </a:p>
        </p:txBody>
      </p:sp>
    </p:spTree>
    <p:extLst>
      <p:ext uri="{BB962C8B-B14F-4D97-AF65-F5344CB8AC3E}">
        <p14:creationId xmlns:p14="http://schemas.microsoft.com/office/powerpoint/2010/main" val="2074005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01199"/>
            <a:ext cx="9144000" cy="1846659"/>
          </a:xfrm>
        </p:spPr>
        <p:txBody>
          <a:bodyPr/>
          <a:lstStyle/>
          <a:p>
            <a:r>
              <a:rPr lang="uk-UA" dirty="0">
                <a:solidFill>
                  <a:srgbClr val="002060"/>
                </a:solidFill>
              </a:rPr>
              <a:t>Реалізація системи</a:t>
            </a:r>
            <a:br>
              <a:rPr lang="uk-UA" dirty="0">
                <a:solidFill>
                  <a:srgbClr val="002060"/>
                </a:solidFill>
              </a:rPr>
            </a:br>
            <a:endParaRPr lang="uk-UA" dirty="0"/>
          </a:p>
        </p:txBody>
      </p:sp>
      <p:sp>
        <p:nvSpPr>
          <p:cNvPr id="4" name="TextBox 3"/>
          <p:cNvSpPr txBox="1"/>
          <p:nvPr/>
        </p:nvSpPr>
        <p:spPr>
          <a:xfrm>
            <a:off x="9136251" y="6350230"/>
            <a:ext cx="3029245" cy="461665"/>
          </a:xfrm>
          <a:prstGeom prst="rect">
            <a:avLst/>
          </a:prstGeom>
          <a:noFill/>
        </p:spPr>
        <p:txBody>
          <a:bodyPr wrap="square" rtlCol="0">
            <a:spAutoFit/>
          </a:bodyPr>
          <a:lstStyle/>
          <a:p>
            <a:pPr algn="r"/>
            <a:r>
              <a:rPr lang="uk-UA" sz="2400" dirty="0">
                <a:solidFill>
                  <a:schemeClr val="bg1"/>
                </a:solidFill>
              </a:rPr>
              <a:t>9/16</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9" name="Підзаголовок 2">
            <a:extLst>
              <a:ext uri="{FF2B5EF4-FFF2-40B4-BE49-F238E27FC236}">
                <a16:creationId xmlns:a16="http://schemas.microsoft.com/office/drawing/2014/main" id="{1BCB85C1-FEFF-5F51-642C-75A041887199}"/>
              </a:ext>
            </a:extLst>
          </p:cNvPr>
          <p:cNvSpPr>
            <a:spLocks noGrp="1"/>
          </p:cNvSpPr>
          <p:nvPr>
            <p:ph type="subTitle" idx="1"/>
          </p:nvPr>
        </p:nvSpPr>
        <p:spPr>
          <a:xfrm>
            <a:off x="268705" y="1948067"/>
            <a:ext cx="11654590" cy="3962623"/>
          </a:xfrm>
        </p:spPr>
        <p:txBody>
          <a:bodyPr/>
          <a:lstStyle/>
          <a:p>
            <a:pPr algn="just">
              <a:spcBef>
                <a:spcPts val="300"/>
              </a:spcBef>
            </a:pPr>
            <a:r>
              <a:rPr lang="uk-UA" sz="1500" b="1" dirty="0">
                <a:solidFill>
                  <a:srgbClr val="002060"/>
                </a:solidFill>
              </a:rPr>
              <a:t>Опис процесу розробки</a:t>
            </a:r>
          </a:p>
          <a:p>
            <a:pPr algn="just">
              <a:spcBef>
                <a:spcPts val="300"/>
              </a:spcBef>
            </a:pPr>
            <a:r>
              <a:rPr lang="uk-UA" sz="1500" dirty="0">
                <a:solidFill>
                  <a:srgbClr val="002060"/>
                </a:solidFill>
              </a:rPr>
              <a:t>Розробка вебзастосунку «Теплоенергетик» виконувалася поетапно.</a:t>
            </a:r>
          </a:p>
          <a:p>
            <a:pPr algn="just">
              <a:spcBef>
                <a:spcPts val="300"/>
              </a:spcBef>
            </a:pPr>
            <a:r>
              <a:rPr lang="uk-UA" sz="1500" b="1" dirty="0">
                <a:solidFill>
                  <a:srgbClr val="002060"/>
                </a:solidFill>
              </a:rPr>
              <a:t>Аналіз вимог: </a:t>
            </a:r>
            <a:r>
              <a:rPr lang="uk-UA" sz="1500" dirty="0">
                <a:solidFill>
                  <a:srgbClr val="002060"/>
                </a:solidFill>
              </a:rPr>
              <a:t>На першому етапі було визначено основні функціональні та нефункціональні вимоги до системи. Було проаналізовано потреби користувача: виконання теплоенергетичних розрахунків, збереження результатів, створення проєктів, робота з довідником та експорт даних.</a:t>
            </a:r>
          </a:p>
          <a:p>
            <a:pPr algn="just">
              <a:spcBef>
                <a:spcPts val="300"/>
              </a:spcBef>
            </a:pPr>
            <a:r>
              <a:rPr lang="uk-UA" sz="1500" b="1" dirty="0">
                <a:solidFill>
                  <a:srgbClr val="002060"/>
                </a:solidFill>
              </a:rPr>
              <a:t>Проєктування: </a:t>
            </a:r>
            <a:r>
              <a:rPr lang="uk-UA" sz="1500" dirty="0">
                <a:solidFill>
                  <a:srgbClr val="002060"/>
                </a:solidFill>
              </a:rPr>
              <a:t>Було спроєктовано структуру вебзастосунку, визначено основні сторінки сайту, логіку взаємодії користувача із системою та структуру бази даних. Окремо було продумано моделі для збереження профілів користувачів, історії розрахунків, проєктів і елементів проєкту.</a:t>
            </a:r>
          </a:p>
          <a:p>
            <a:pPr algn="just">
              <a:spcBef>
                <a:spcPts val="300"/>
              </a:spcBef>
            </a:pPr>
            <a:r>
              <a:rPr lang="uk-UA" sz="1500" b="1" dirty="0">
                <a:solidFill>
                  <a:srgbClr val="002060"/>
                </a:solidFill>
              </a:rPr>
              <a:t>Розробка: </a:t>
            </a:r>
            <a:r>
              <a:rPr lang="uk-UA" sz="1500" dirty="0">
                <a:solidFill>
                  <a:srgbClr val="002060"/>
                </a:solidFill>
              </a:rPr>
              <a:t>Клієнтська частина була реалізована з використанням </a:t>
            </a:r>
            <a:r>
              <a:rPr lang="en-US" sz="1500" dirty="0">
                <a:solidFill>
                  <a:srgbClr val="002060"/>
                </a:solidFill>
              </a:rPr>
              <a:t>HTML, CSS, JavaScript </a:t>
            </a:r>
            <a:r>
              <a:rPr lang="uk-UA" sz="1500" dirty="0">
                <a:solidFill>
                  <a:srgbClr val="002060"/>
                </a:solidFill>
              </a:rPr>
              <a:t>і </a:t>
            </a:r>
            <a:r>
              <a:rPr lang="en-US" sz="1500" dirty="0">
                <a:solidFill>
                  <a:srgbClr val="002060"/>
                </a:solidFill>
              </a:rPr>
              <a:t>Bootstrap. </a:t>
            </a:r>
            <a:r>
              <a:rPr lang="uk-UA" sz="1500" dirty="0">
                <a:solidFill>
                  <a:srgbClr val="002060"/>
                </a:solidFill>
              </a:rPr>
              <a:t>Було створено сторінки головного меню, калькуляторів, довідника, особистого кабінету, профілю, авторизації, реєстрації та адміністративної панелі. Для побудови графіків використано </a:t>
            </a:r>
            <a:r>
              <a:rPr lang="en-US" sz="1500" dirty="0">
                <a:solidFill>
                  <a:srgbClr val="002060"/>
                </a:solidFill>
              </a:rPr>
              <a:t>Chart.js, </a:t>
            </a:r>
            <a:r>
              <a:rPr lang="uk-UA" sz="1500" dirty="0">
                <a:solidFill>
                  <a:srgbClr val="002060"/>
                </a:solidFill>
              </a:rPr>
              <a:t>а для експорту результатів — бібліотеки для формування </a:t>
            </a:r>
            <a:r>
              <a:rPr lang="en-US" sz="1500" dirty="0">
                <a:solidFill>
                  <a:srgbClr val="002060"/>
                </a:solidFill>
              </a:rPr>
              <a:t>CSV, XLSX, PDF </a:t>
            </a:r>
            <a:r>
              <a:rPr lang="uk-UA" sz="1500" dirty="0">
                <a:solidFill>
                  <a:srgbClr val="002060"/>
                </a:solidFill>
              </a:rPr>
              <a:t>і </a:t>
            </a:r>
            <a:r>
              <a:rPr lang="en-US" sz="1500" dirty="0">
                <a:solidFill>
                  <a:srgbClr val="002060"/>
                </a:solidFill>
              </a:rPr>
              <a:t>DOCX.</a:t>
            </a:r>
            <a:endParaRPr lang="uk-UA" sz="1500" dirty="0">
              <a:solidFill>
                <a:srgbClr val="002060"/>
              </a:solidFill>
            </a:endParaRPr>
          </a:p>
          <a:p>
            <a:pPr algn="just">
              <a:spcBef>
                <a:spcPts val="300"/>
              </a:spcBef>
            </a:pPr>
            <a:r>
              <a:rPr lang="uk-UA" sz="1500" b="1" dirty="0">
                <a:solidFill>
                  <a:srgbClr val="002060"/>
                </a:solidFill>
              </a:rPr>
              <a:t>Інтеграція з базою даних: </a:t>
            </a:r>
            <a:r>
              <a:rPr lang="uk-UA" sz="1500" dirty="0">
                <a:solidFill>
                  <a:srgbClr val="002060"/>
                </a:solidFill>
              </a:rPr>
              <a:t>Для авторизації користувачів і збереження даних було використано </a:t>
            </a:r>
            <a:r>
              <a:rPr lang="en-US" sz="1500" dirty="0" err="1">
                <a:solidFill>
                  <a:srgbClr val="002060"/>
                </a:solidFill>
              </a:rPr>
              <a:t>Supabase</a:t>
            </a:r>
            <a:r>
              <a:rPr lang="en-US" sz="1500" dirty="0">
                <a:solidFill>
                  <a:srgbClr val="002060"/>
                </a:solidFill>
              </a:rPr>
              <a:t> Auth </a:t>
            </a:r>
            <a:r>
              <a:rPr lang="uk-UA" sz="1500" dirty="0">
                <a:solidFill>
                  <a:srgbClr val="002060"/>
                </a:solidFill>
              </a:rPr>
              <a:t>та </a:t>
            </a:r>
            <a:r>
              <a:rPr lang="en-US" sz="1500" dirty="0" err="1">
                <a:solidFill>
                  <a:srgbClr val="002060"/>
                </a:solidFill>
              </a:rPr>
              <a:t>Supabase</a:t>
            </a:r>
            <a:r>
              <a:rPr lang="en-US" sz="1500" dirty="0">
                <a:solidFill>
                  <a:srgbClr val="002060"/>
                </a:solidFill>
              </a:rPr>
              <a:t> Database. </a:t>
            </a:r>
            <a:r>
              <a:rPr lang="uk-UA" sz="1500" dirty="0">
                <a:solidFill>
                  <a:srgbClr val="002060"/>
                </a:solidFill>
              </a:rPr>
              <a:t>У базі даних створено таблиці для профілів, розрахунків, проєктів і елементів проєктів. Для захисту даних налаштовано </a:t>
            </a:r>
            <a:r>
              <a:rPr lang="en-US" sz="1500" dirty="0">
                <a:solidFill>
                  <a:srgbClr val="002060"/>
                </a:solidFill>
              </a:rPr>
              <a:t>Row Level Security.</a:t>
            </a:r>
            <a:endParaRPr lang="uk-UA" sz="1500" dirty="0">
              <a:solidFill>
                <a:srgbClr val="002060"/>
              </a:solidFill>
            </a:endParaRPr>
          </a:p>
          <a:p>
            <a:pPr algn="just">
              <a:spcBef>
                <a:spcPts val="300"/>
              </a:spcBef>
            </a:pPr>
            <a:r>
              <a:rPr lang="uk-UA" sz="1500" b="1" dirty="0">
                <a:solidFill>
                  <a:srgbClr val="002060"/>
                </a:solidFill>
              </a:rPr>
              <a:t>Тестування: </a:t>
            </a:r>
            <a:r>
              <a:rPr lang="uk-UA" sz="1500" dirty="0">
                <a:solidFill>
                  <a:srgbClr val="002060"/>
                </a:solidFill>
              </a:rPr>
              <a:t>Під час розробки перевірялися основні сценарії роботи: реєстрація, вхід, зміна профілю, виконання розрахунків, збереження історії, створення проєктів, додавання нотаток і розрахунків, експорт файлів та видалення акаунта.</a:t>
            </a:r>
          </a:p>
          <a:p>
            <a:pPr algn="just">
              <a:spcBef>
                <a:spcPts val="300"/>
              </a:spcBef>
            </a:pPr>
            <a:r>
              <a:rPr lang="uk-UA" sz="1500" b="1" dirty="0">
                <a:solidFill>
                  <a:srgbClr val="002060"/>
                </a:solidFill>
              </a:rPr>
              <a:t>Підтримка та вдосконалення: </a:t>
            </a:r>
            <a:r>
              <a:rPr lang="uk-UA" sz="1500" dirty="0">
                <a:solidFill>
                  <a:srgbClr val="002060"/>
                </a:solidFill>
              </a:rPr>
              <a:t>У процесі доопрацювання було додано пошук у довіднику, зміну порядку елементів проєкту, відновлення пароля, українські повідомлення про помилки, повне видалення акаунта через </a:t>
            </a:r>
            <a:r>
              <a:rPr lang="en-US" sz="1500" dirty="0" err="1">
                <a:solidFill>
                  <a:srgbClr val="002060"/>
                </a:solidFill>
              </a:rPr>
              <a:t>Supabase</a:t>
            </a:r>
            <a:r>
              <a:rPr lang="en-US" sz="1500" dirty="0">
                <a:solidFill>
                  <a:srgbClr val="002060"/>
                </a:solidFill>
              </a:rPr>
              <a:t> Edge Function </a:t>
            </a:r>
            <a:r>
              <a:rPr lang="uk-UA" sz="1500" dirty="0">
                <a:solidFill>
                  <a:srgbClr val="002060"/>
                </a:solidFill>
              </a:rPr>
              <a:t>та покращений експорт даних.</a:t>
            </a:r>
          </a:p>
        </p:txBody>
      </p:sp>
    </p:spTree>
    <p:extLst>
      <p:ext uri="{BB962C8B-B14F-4D97-AF65-F5344CB8AC3E}">
        <p14:creationId xmlns:p14="http://schemas.microsoft.com/office/powerpoint/2010/main" val="1215554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32B19-8D35-772C-E5BE-F3466AFBF06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6F000E-5535-FCE0-106D-6A7124B26A8F}"/>
              </a:ext>
            </a:extLst>
          </p:cNvPr>
          <p:cNvSpPr>
            <a:spLocks noGrp="1"/>
          </p:cNvSpPr>
          <p:nvPr>
            <p:ph type="ctrTitle"/>
          </p:nvPr>
        </p:nvSpPr>
        <p:spPr>
          <a:xfrm>
            <a:off x="1524000" y="1101199"/>
            <a:ext cx="9144000" cy="1846659"/>
          </a:xfrm>
        </p:spPr>
        <p:txBody>
          <a:bodyPr/>
          <a:lstStyle/>
          <a:p>
            <a:r>
              <a:rPr lang="uk-UA" dirty="0">
                <a:solidFill>
                  <a:srgbClr val="002060"/>
                </a:solidFill>
              </a:rPr>
              <a:t>Реалізація системи</a:t>
            </a:r>
            <a:br>
              <a:rPr lang="uk-UA" dirty="0">
                <a:solidFill>
                  <a:srgbClr val="002060"/>
                </a:solidFill>
              </a:rPr>
            </a:br>
            <a:endParaRPr lang="uk-UA" dirty="0"/>
          </a:p>
        </p:txBody>
      </p:sp>
      <p:sp>
        <p:nvSpPr>
          <p:cNvPr id="4" name="TextBox 3">
            <a:extLst>
              <a:ext uri="{FF2B5EF4-FFF2-40B4-BE49-F238E27FC236}">
                <a16:creationId xmlns:a16="http://schemas.microsoft.com/office/drawing/2014/main" id="{1798DE0F-E796-6BD6-C4F1-87DB3EEC2E7E}"/>
              </a:ext>
            </a:extLst>
          </p:cNvPr>
          <p:cNvSpPr txBox="1"/>
          <p:nvPr/>
        </p:nvSpPr>
        <p:spPr>
          <a:xfrm>
            <a:off x="9136251" y="6350230"/>
            <a:ext cx="3029245" cy="461665"/>
          </a:xfrm>
          <a:prstGeom prst="rect">
            <a:avLst/>
          </a:prstGeom>
          <a:noFill/>
        </p:spPr>
        <p:txBody>
          <a:bodyPr wrap="square" rtlCol="0">
            <a:spAutoFit/>
          </a:bodyPr>
          <a:lstStyle/>
          <a:p>
            <a:pPr algn="r"/>
            <a:r>
              <a:rPr lang="uk-UA" sz="2400" dirty="0">
                <a:solidFill>
                  <a:schemeClr val="bg1"/>
                </a:solidFill>
              </a:rPr>
              <a:t>10/16</a:t>
            </a:r>
          </a:p>
        </p:txBody>
      </p:sp>
      <p:sp>
        <p:nvSpPr>
          <p:cNvPr id="5" name="TextBox 4">
            <a:extLst>
              <a:ext uri="{FF2B5EF4-FFF2-40B4-BE49-F238E27FC236}">
                <a16:creationId xmlns:a16="http://schemas.microsoft.com/office/drawing/2014/main" id="{E984FA8A-82AF-D0FD-9589-7A1F1D5333E6}"/>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9" name="Підзаголовок 2">
            <a:extLst>
              <a:ext uri="{FF2B5EF4-FFF2-40B4-BE49-F238E27FC236}">
                <a16:creationId xmlns:a16="http://schemas.microsoft.com/office/drawing/2014/main" id="{B85D5240-4F9E-F7DC-49E3-72EDA21E7669}"/>
              </a:ext>
            </a:extLst>
          </p:cNvPr>
          <p:cNvSpPr>
            <a:spLocks noGrp="1"/>
          </p:cNvSpPr>
          <p:nvPr>
            <p:ph type="subTitle" idx="1"/>
          </p:nvPr>
        </p:nvSpPr>
        <p:spPr>
          <a:xfrm>
            <a:off x="268705" y="1879055"/>
            <a:ext cx="11654590" cy="4493538"/>
          </a:xfrm>
        </p:spPr>
        <p:txBody>
          <a:bodyPr/>
          <a:lstStyle/>
          <a:p>
            <a:pPr algn="just">
              <a:spcBef>
                <a:spcPts val="300"/>
              </a:spcBef>
            </a:pPr>
            <a:r>
              <a:rPr lang="uk-UA" sz="1400" dirty="0">
                <a:solidFill>
                  <a:srgbClr val="002060"/>
                </a:solidFill>
              </a:rPr>
              <a:t>Використані технології, фреймворки та бібліотеки</a:t>
            </a:r>
          </a:p>
          <a:p>
            <a:pPr algn="just">
              <a:spcBef>
                <a:spcPts val="300"/>
              </a:spcBef>
            </a:pPr>
            <a:r>
              <a:rPr lang="uk-UA" sz="1400" b="1" dirty="0">
                <a:solidFill>
                  <a:srgbClr val="002060"/>
                </a:solidFill>
              </a:rPr>
              <a:t>Мова програмування:</a:t>
            </a:r>
          </a:p>
          <a:p>
            <a:pPr algn="just">
              <a:spcBef>
                <a:spcPts val="300"/>
              </a:spcBef>
            </a:pPr>
            <a:r>
              <a:rPr lang="en-US" sz="1400" b="1" dirty="0">
                <a:solidFill>
                  <a:srgbClr val="002060"/>
                </a:solidFill>
              </a:rPr>
              <a:t>JavaScript</a:t>
            </a:r>
            <a:r>
              <a:rPr lang="en-US" sz="1400" dirty="0">
                <a:solidFill>
                  <a:srgbClr val="002060"/>
                </a:solidFill>
              </a:rPr>
              <a:t> — </a:t>
            </a:r>
            <a:r>
              <a:rPr lang="uk-UA" sz="1400" dirty="0">
                <a:solidFill>
                  <a:srgbClr val="002060"/>
                </a:solidFill>
              </a:rPr>
              <a:t>використовується для реалізації логіки вебзастосунку: виконання розрахунків, роботи з формами, авторизацією, профілем, журналом розрахунків, проєктами та експортом даних.</a:t>
            </a:r>
          </a:p>
          <a:p>
            <a:pPr algn="just">
              <a:spcBef>
                <a:spcPts val="300"/>
              </a:spcBef>
            </a:pPr>
            <a:r>
              <a:rPr lang="uk-UA" sz="1400" b="1" dirty="0">
                <a:solidFill>
                  <a:srgbClr val="002060"/>
                </a:solidFill>
              </a:rPr>
              <a:t>Мови розмітки та стилізації:</a:t>
            </a:r>
          </a:p>
          <a:p>
            <a:pPr algn="just">
              <a:spcBef>
                <a:spcPts val="300"/>
              </a:spcBef>
            </a:pPr>
            <a:r>
              <a:rPr lang="en-US" sz="1400" b="1" dirty="0">
                <a:solidFill>
                  <a:srgbClr val="002060"/>
                </a:solidFill>
              </a:rPr>
              <a:t>HTML</a:t>
            </a:r>
            <a:r>
              <a:rPr lang="en-US" sz="1400" dirty="0">
                <a:solidFill>
                  <a:srgbClr val="002060"/>
                </a:solidFill>
              </a:rPr>
              <a:t> — </a:t>
            </a:r>
            <a:r>
              <a:rPr lang="uk-UA" sz="1400" dirty="0">
                <a:solidFill>
                  <a:srgbClr val="002060"/>
                </a:solidFill>
              </a:rPr>
              <a:t>використовується для створення структури сторінок вебзастосунку.</a:t>
            </a:r>
          </a:p>
          <a:p>
            <a:pPr algn="just">
              <a:spcBef>
                <a:spcPts val="300"/>
              </a:spcBef>
            </a:pPr>
            <a:r>
              <a:rPr lang="en-US" sz="1400" b="1" dirty="0">
                <a:solidFill>
                  <a:srgbClr val="002060"/>
                </a:solidFill>
              </a:rPr>
              <a:t>CSS</a:t>
            </a:r>
            <a:r>
              <a:rPr lang="en-US" sz="1400" dirty="0">
                <a:solidFill>
                  <a:srgbClr val="002060"/>
                </a:solidFill>
              </a:rPr>
              <a:t> — </a:t>
            </a:r>
            <a:r>
              <a:rPr lang="uk-UA" sz="1400" dirty="0">
                <a:solidFill>
                  <a:srgbClr val="002060"/>
                </a:solidFill>
              </a:rPr>
              <a:t>використовується для оформлення інтерфейсу, адаптивності, світлої/темної теми та кольорових схем.</a:t>
            </a:r>
          </a:p>
          <a:p>
            <a:pPr algn="just">
              <a:spcBef>
                <a:spcPts val="300"/>
              </a:spcBef>
            </a:pPr>
            <a:r>
              <a:rPr lang="uk-UA" sz="1400" b="1" dirty="0">
                <a:solidFill>
                  <a:srgbClr val="002060"/>
                </a:solidFill>
              </a:rPr>
              <a:t>Фреймворки та сервіси:</a:t>
            </a:r>
          </a:p>
          <a:p>
            <a:pPr algn="just">
              <a:spcBef>
                <a:spcPts val="300"/>
              </a:spcBef>
            </a:pPr>
            <a:r>
              <a:rPr lang="en-US" sz="1400" b="1" dirty="0">
                <a:solidFill>
                  <a:srgbClr val="002060"/>
                </a:solidFill>
              </a:rPr>
              <a:t>Bootstrap</a:t>
            </a:r>
            <a:r>
              <a:rPr lang="en-US" sz="1400" dirty="0">
                <a:solidFill>
                  <a:srgbClr val="002060"/>
                </a:solidFill>
              </a:rPr>
              <a:t> — </a:t>
            </a:r>
            <a:r>
              <a:rPr lang="uk-UA" sz="1400" dirty="0">
                <a:solidFill>
                  <a:srgbClr val="002060"/>
                </a:solidFill>
              </a:rPr>
              <a:t>для адаптивної верстки, форм, кнопок, таблиць і карток.</a:t>
            </a:r>
          </a:p>
          <a:p>
            <a:pPr algn="just">
              <a:spcBef>
                <a:spcPts val="300"/>
              </a:spcBef>
            </a:pPr>
            <a:r>
              <a:rPr lang="en-US" sz="1400" b="1" dirty="0" err="1">
                <a:solidFill>
                  <a:srgbClr val="002060"/>
                </a:solidFill>
              </a:rPr>
              <a:t>Supabase</a:t>
            </a:r>
            <a:r>
              <a:rPr lang="en-US" sz="1400" b="1" dirty="0">
                <a:solidFill>
                  <a:srgbClr val="002060"/>
                </a:solidFill>
              </a:rPr>
              <a:t> Auth</a:t>
            </a:r>
            <a:r>
              <a:rPr lang="en-US" sz="1400" dirty="0">
                <a:solidFill>
                  <a:srgbClr val="002060"/>
                </a:solidFill>
              </a:rPr>
              <a:t> — </a:t>
            </a:r>
            <a:r>
              <a:rPr lang="uk-UA" sz="1400" dirty="0">
                <a:solidFill>
                  <a:srgbClr val="002060"/>
                </a:solidFill>
              </a:rPr>
              <a:t>для реєстрації, авторизації та відновлення пароля.</a:t>
            </a:r>
          </a:p>
          <a:p>
            <a:pPr algn="just">
              <a:spcBef>
                <a:spcPts val="300"/>
              </a:spcBef>
            </a:pPr>
            <a:r>
              <a:rPr lang="en-US" sz="1400" b="1" dirty="0" err="1">
                <a:solidFill>
                  <a:srgbClr val="002060"/>
                </a:solidFill>
              </a:rPr>
              <a:t>Supabase</a:t>
            </a:r>
            <a:r>
              <a:rPr lang="en-US" sz="1400" b="1" dirty="0">
                <a:solidFill>
                  <a:srgbClr val="002060"/>
                </a:solidFill>
              </a:rPr>
              <a:t> Database </a:t>
            </a:r>
            <a:r>
              <a:rPr lang="en-US" sz="1400" dirty="0">
                <a:solidFill>
                  <a:srgbClr val="002060"/>
                </a:solidFill>
              </a:rPr>
              <a:t>— </a:t>
            </a:r>
            <a:r>
              <a:rPr lang="uk-UA" sz="1400" dirty="0">
                <a:solidFill>
                  <a:srgbClr val="002060"/>
                </a:solidFill>
              </a:rPr>
              <a:t>для збереження профілів, історії розрахунків, проєктів і елементів проєктів.</a:t>
            </a:r>
          </a:p>
          <a:p>
            <a:pPr algn="just">
              <a:spcBef>
                <a:spcPts val="300"/>
              </a:spcBef>
            </a:pPr>
            <a:r>
              <a:rPr lang="en-US" sz="1400" b="1" dirty="0" err="1">
                <a:solidFill>
                  <a:srgbClr val="002060"/>
                </a:solidFill>
              </a:rPr>
              <a:t>Supabase</a:t>
            </a:r>
            <a:r>
              <a:rPr lang="en-US" sz="1400" b="1" dirty="0">
                <a:solidFill>
                  <a:srgbClr val="002060"/>
                </a:solidFill>
              </a:rPr>
              <a:t> Edge Function</a:t>
            </a:r>
            <a:r>
              <a:rPr lang="en-US" sz="1400" dirty="0">
                <a:solidFill>
                  <a:srgbClr val="002060"/>
                </a:solidFill>
              </a:rPr>
              <a:t> — </a:t>
            </a:r>
            <a:r>
              <a:rPr lang="uk-UA" sz="1400" dirty="0">
                <a:solidFill>
                  <a:srgbClr val="002060"/>
                </a:solidFill>
              </a:rPr>
              <a:t>для повного видалення акаунта користувача на серверній стороні.</a:t>
            </a:r>
          </a:p>
          <a:p>
            <a:pPr algn="just">
              <a:spcBef>
                <a:spcPts val="300"/>
              </a:spcBef>
            </a:pPr>
            <a:r>
              <a:rPr lang="uk-UA" sz="1400" b="1" dirty="0">
                <a:solidFill>
                  <a:srgbClr val="002060"/>
                </a:solidFill>
              </a:rPr>
              <a:t>Бібліотеки:</a:t>
            </a:r>
          </a:p>
          <a:p>
            <a:pPr algn="just">
              <a:spcBef>
                <a:spcPts val="300"/>
              </a:spcBef>
            </a:pPr>
            <a:r>
              <a:rPr lang="en-US" sz="1400" b="1" dirty="0">
                <a:solidFill>
                  <a:srgbClr val="002060"/>
                </a:solidFill>
              </a:rPr>
              <a:t>Chart.js </a:t>
            </a:r>
            <a:r>
              <a:rPr lang="en-US" sz="1400" dirty="0">
                <a:solidFill>
                  <a:srgbClr val="002060"/>
                </a:solidFill>
              </a:rPr>
              <a:t>— </a:t>
            </a:r>
            <a:r>
              <a:rPr lang="uk-UA" sz="1400" dirty="0">
                <a:solidFill>
                  <a:srgbClr val="002060"/>
                </a:solidFill>
              </a:rPr>
              <a:t>для побудови графіків.</a:t>
            </a:r>
          </a:p>
          <a:p>
            <a:pPr algn="just">
              <a:spcBef>
                <a:spcPts val="300"/>
              </a:spcBef>
            </a:pPr>
            <a:r>
              <a:rPr lang="en-US" sz="1400" b="1" dirty="0" err="1">
                <a:solidFill>
                  <a:srgbClr val="002060"/>
                </a:solidFill>
              </a:rPr>
              <a:t>pdfMake</a:t>
            </a:r>
            <a:r>
              <a:rPr lang="en-US" sz="1400" dirty="0">
                <a:solidFill>
                  <a:srgbClr val="002060"/>
                </a:solidFill>
              </a:rPr>
              <a:t> — </a:t>
            </a:r>
            <a:r>
              <a:rPr lang="uk-UA" sz="1400" dirty="0">
                <a:solidFill>
                  <a:srgbClr val="002060"/>
                </a:solidFill>
              </a:rPr>
              <a:t>для експорту проєктів у </a:t>
            </a:r>
            <a:r>
              <a:rPr lang="en-US" sz="1400" dirty="0">
                <a:solidFill>
                  <a:srgbClr val="002060"/>
                </a:solidFill>
              </a:rPr>
              <a:t>PDF.</a:t>
            </a:r>
            <a:endParaRPr lang="uk-UA" sz="1400" dirty="0">
              <a:solidFill>
                <a:srgbClr val="002060"/>
              </a:solidFill>
            </a:endParaRPr>
          </a:p>
          <a:p>
            <a:pPr algn="just">
              <a:spcBef>
                <a:spcPts val="300"/>
              </a:spcBef>
            </a:pPr>
            <a:r>
              <a:rPr lang="en-US" sz="1400" b="1" dirty="0">
                <a:solidFill>
                  <a:srgbClr val="002060"/>
                </a:solidFill>
              </a:rPr>
              <a:t>docx</a:t>
            </a:r>
            <a:r>
              <a:rPr lang="en-US" sz="1400" dirty="0">
                <a:solidFill>
                  <a:srgbClr val="002060"/>
                </a:solidFill>
              </a:rPr>
              <a:t> — </a:t>
            </a:r>
            <a:r>
              <a:rPr lang="uk-UA" sz="1400" dirty="0">
                <a:solidFill>
                  <a:srgbClr val="002060"/>
                </a:solidFill>
              </a:rPr>
              <a:t>для експорту проєктів у </a:t>
            </a:r>
            <a:r>
              <a:rPr lang="en-US" sz="1400" dirty="0">
                <a:solidFill>
                  <a:srgbClr val="002060"/>
                </a:solidFill>
              </a:rPr>
              <a:t>DOCX.</a:t>
            </a:r>
            <a:endParaRPr lang="uk-UA" sz="1400" dirty="0">
              <a:solidFill>
                <a:srgbClr val="002060"/>
              </a:solidFill>
            </a:endParaRPr>
          </a:p>
          <a:p>
            <a:pPr algn="just">
              <a:spcBef>
                <a:spcPts val="300"/>
              </a:spcBef>
            </a:pPr>
            <a:r>
              <a:rPr lang="en-US" sz="1400" b="1" dirty="0" err="1">
                <a:solidFill>
                  <a:srgbClr val="002060"/>
                </a:solidFill>
              </a:rPr>
              <a:t>ExcelJS</a:t>
            </a:r>
            <a:r>
              <a:rPr lang="en-US" sz="1400" dirty="0">
                <a:solidFill>
                  <a:srgbClr val="002060"/>
                </a:solidFill>
              </a:rPr>
              <a:t> — </a:t>
            </a:r>
            <a:r>
              <a:rPr lang="uk-UA" sz="1400" dirty="0">
                <a:solidFill>
                  <a:srgbClr val="002060"/>
                </a:solidFill>
              </a:rPr>
              <a:t>для формування </a:t>
            </a:r>
            <a:r>
              <a:rPr lang="en-US" sz="1400" dirty="0">
                <a:solidFill>
                  <a:srgbClr val="002060"/>
                </a:solidFill>
              </a:rPr>
              <a:t>XLSX-</a:t>
            </a:r>
            <a:r>
              <a:rPr lang="uk-UA" sz="1400" dirty="0">
                <a:solidFill>
                  <a:srgbClr val="002060"/>
                </a:solidFill>
              </a:rPr>
              <a:t>файлів.</a:t>
            </a:r>
          </a:p>
          <a:p>
            <a:pPr algn="just">
              <a:spcBef>
                <a:spcPts val="300"/>
              </a:spcBef>
            </a:pPr>
            <a:r>
              <a:rPr lang="en-US" sz="1400" b="1" dirty="0">
                <a:solidFill>
                  <a:srgbClr val="002060"/>
                </a:solidFill>
              </a:rPr>
              <a:t>FileSaver.js </a:t>
            </a:r>
            <a:r>
              <a:rPr lang="en-US" sz="1400" dirty="0">
                <a:solidFill>
                  <a:srgbClr val="002060"/>
                </a:solidFill>
              </a:rPr>
              <a:t>— </a:t>
            </a:r>
            <a:r>
              <a:rPr lang="uk-UA" sz="1400" dirty="0">
                <a:solidFill>
                  <a:srgbClr val="002060"/>
                </a:solidFill>
              </a:rPr>
              <a:t>для збереження сформованих файлів на пристрій користувача.</a:t>
            </a:r>
          </a:p>
        </p:txBody>
      </p:sp>
    </p:spTree>
    <p:extLst>
      <p:ext uri="{BB962C8B-B14F-4D97-AF65-F5344CB8AC3E}">
        <p14:creationId xmlns:p14="http://schemas.microsoft.com/office/powerpoint/2010/main" val="1882162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1DDE6-777B-BC32-5079-1C793417631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ED575-AE35-1509-D0AB-03F132BD2709}"/>
              </a:ext>
            </a:extLst>
          </p:cNvPr>
          <p:cNvSpPr>
            <a:spLocks noGrp="1"/>
          </p:cNvSpPr>
          <p:nvPr>
            <p:ph type="ctrTitle"/>
          </p:nvPr>
        </p:nvSpPr>
        <p:spPr>
          <a:xfrm>
            <a:off x="1524000" y="1101199"/>
            <a:ext cx="9144000" cy="1846659"/>
          </a:xfrm>
        </p:spPr>
        <p:txBody>
          <a:bodyPr/>
          <a:lstStyle/>
          <a:p>
            <a:r>
              <a:rPr lang="uk-UA" dirty="0">
                <a:solidFill>
                  <a:srgbClr val="002060"/>
                </a:solidFill>
              </a:rPr>
              <a:t>Реалізація системи</a:t>
            </a:r>
            <a:br>
              <a:rPr lang="uk-UA" dirty="0">
                <a:solidFill>
                  <a:srgbClr val="002060"/>
                </a:solidFill>
              </a:rPr>
            </a:br>
            <a:endParaRPr lang="uk-UA" dirty="0"/>
          </a:p>
        </p:txBody>
      </p:sp>
      <p:sp>
        <p:nvSpPr>
          <p:cNvPr id="4" name="TextBox 3">
            <a:extLst>
              <a:ext uri="{FF2B5EF4-FFF2-40B4-BE49-F238E27FC236}">
                <a16:creationId xmlns:a16="http://schemas.microsoft.com/office/drawing/2014/main" id="{B7D6B349-41A9-A4C0-2BFC-2C2DB18FA0FB}"/>
              </a:ext>
            </a:extLst>
          </p:cNvPr>
          <p:cNvSpPr txBox="1"/>
          <p:nvPr/>
        </p:nvSpPr>
        <p:spPr>
          <a:xfrm>
            <a:off x="9136251" y="6350230"/>
            <a:ext cx="3029245" cy="461665"/>
          </a:xfrm>
          <a:prstGeom prst="rect">
            <a:avLst/>
          </a:prstGeom>
          <a:noFill/>
        </p:spPr>
        <p:txBody>
          <a:bodyPr wrap="square" rtlCol="0">
            <a:spAutoFit/>
          </a:bodyPr>
          <a:lstStyle/>
          <a:p>
            <a:pPr algn="r"/>
            <a:r>
              <a:rPr lang="uk-UA" sz="2400" dirty="0">
                <a:solidFill>
                  <a:schemeClr val="bg1"/>
                </a:solidFill>
              </a:rPr>
              <a:t>11/16</a:t>
            </a:r>
          </a:p>
        </p:txBody>
      </p:sp>
      <p:sp>
        <p:nvSpPr>
          <p:cNvPr id="5" name="TextBox 4">
            <a:extLst>
              <a:ext uri="{FF2B5EF4-FFF2-40B4-BE49-F238E27FC236}">
                <a16:creationId xmlns:a16="http://schemas.microsoft.com/office/drawing/2014/main" id="{F92BEEFF-45D2-CA57-3FDD-3C545821CD5E}"/>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9" name="Підзаголовок 2">
            <a:extLst>
              <a:ext uri="{FF2B5EF4-FFF2-40B4-BE49-F238E27FC236}">
                <a16:creationId xmlns:a16="http://schemas.microsoft.com/office/drawing/2014/main" id="{C6104B77-052A-51AD-9E61-899C14988C4C}"/>
              </a:ext>
            </a:extLst>
          </p:cNvPr>
          <p:cNvSpPr>
            <a:spLocks noGrp="1"/>
          </p:cNvSpPr>
          <p:nvPr>
            <p:ph type="subTitle" idx="1"/>
          </p:nvPr>
        </p:nvSpPr>
        <p:spPr>
          <a:xfrm>
            <a:off x="1828844" y="5168304"/>
            <a:ext cx="1419025" cy="232230"/>
          </a:xfrm>
        </p:spPr>
        <p:txBody>
          <a:bodyPr/>
          <a:lstStyle/>
          <a:p>
            <a:pPr algn="just">
              <a:spcBef>
                <a:spcPts val="300"/>
              </a:spcBef>
            </a:pPr>
            <a:r>
              <a:rPr lang="uk-UA" sz="1500" dirty="0">
                <a:solidFill>
                  <a:srgbClr val="002060"/>
                </a:solidFill>
              </a:rPr>
              <a:t>Головна сторінка</a:t>
            </a:r>
          </a:p>
        </p:txBody>
      </p:sp>
      <p:pic>
        <p:nvPicPr>
          <p:cNvPr id="8" name="Рисунок 7">
            <a:extLst>
              <a:ext uri="{FF2B5EF4-FFF2-40B4-BE49-F238E27FC236}">
                <a16:creationId xmlns:a16="http://schemas.microsoft.com/office/drawing/2014/main" id="{21590344-7A8B-7CD7-86BE-4D2365A1F418}"/>
              </a:ext>
            </a:extLst>
          </p:cNvPr>
          <p:cNvPicPr>
            <a:picLocks noChangeAspect="1"/>
          </p:cNvPicPr>
          <p:nvPr/>
        </p:nvPicPr>
        <p:blipFill>
          <a:blip r:embed="rId2"/>
          <a:stretch>
            <a:fillRect/>
          </a:stretch>
        </p:blipFill>
        <p:spPr>
          <a:xfrm>
            <a:off x="212251" y="2533450"/>
            <a:ext cx="4652212" cy="2518619"/>
          </a:xfrm>
          <a:prstGeom prst="rect">
            <a:avLst/>
          </a:prstGeom>
        </p:spPr>
      </p:pic>
      <p:pic>
        <p:nvPicPr>
          <p:cNvPr id="11" name="Рисунок 10">
            <a:extLst>
              <a:ext uri="{FF2B5EF4-FFF2-40B4-BE49-F238E27FC236}">
                <a16:creationId xmlns:a16="http://schemas.microsoft.com/office/drawing/2014/main" id="{34FC2913-47F1-9F35-84A4-A1B066670C92}"/>
              </a:ext>
            </a:extLst>
          </p:cNvPr>
          <p:cNvPicPr>
            <a:picLocks noChangeAspect="1"/>
          </p:cNvPicPr>
          <p:nvPr/>
        </p:nvPicPr>
        <p:blipFill>
          <a:blip r:embed="rId3"/>
          <a:stretch>
            <a:fillRect/>
          </a:stretch>
        </p:blipFill>
        <p:spPr>
          <a:xfrm>
            <a:off x="4980414" y="2527422"/>
            <a:ext cx="4652213" cy="2524647"/>
          </a:xfrm>
          <a:prstGeom prst="rect">
            <a:avLst/>
          </a:prstGeom>
        </p:spPr>
      </p:pic>
      <p:sp>
        <p:nvSpPr>
          <p:cNvPr id="14" name="Підзаголовок 2">
            <a:extLst>
              <a:ext uri="{FF2B5EF4-FFF2-40B4-BE49-F238E27FC236}">
                <a16:creationId xmlns:a16="http://schemas.microsoft.com/office/drawing/2014/main" id="{6AA8299C-B7E0-E842-FF7B-601CF317860F}"/>
              </a:ext>
            </a:extLst>
          </p:cNvPr>
          <p:cNvSpPr txBox="1">
            <a:spLocks/>
          </p:cNvSpPr>
          <p:nvPr/>
        </p:nvSpPr>
        <p:spPr>
          <a:xfrm>
            <a:off x="6597007" y="5168304"/>
            <a:ext cx="1419025" cy="232230"/>
          </a:xfrm>
          <a:prstGeom prst="rect">
            <a:avLst/>
          </a:prstGeom>
        </p:spPr>
        <p:txBody>
          <a:bodyPr wrap="square" lIns="0" tIns="0" rIns="0" bIns="0">
            <a:spAutoFit/>
          </a:bodyPr>
          <a:lstStyle>
            <a:lvl1pPr marL="0" indent="0" algn="ctr" eaLnBrk="1" hangingPunct="1">
              <a:buNone/>
              <a:defRPr sz="2400" b="0" i="0">
                <a:solidFill>
                  <a:schemeClr val="bg1"/>
                </a:solidFill>
                <a:latin typeface="Calibri"/>
                <a:ea typeface="+mn-ea"/>
                <a:cs typeface="Calibri"/>
              </a:defRPr>
            </a:lvl1pPr>
            <a:lvl2pPr marL="457200" indent="0" algn="ctr" eaLnBrk="1" hangingPunct="1">
              <a:buNone/>
              <a:defRPr sz="2000">
                <a:latin typeface="+mn-lt"/>
                <a:ea typeface="+mn-ea"/>
                <a:cs typeface="+mn-cs"/>
              </a:defRPr>
            </a:lvl2pPr>
            <a:lvl3pPr marL="914400" indent="0" algn="ctr" eaLnBrk="1" hangingPunct="1">
              <a:buNone/>
              <a:defRPr sz="1800">
                <a:latin typeface="+mn-lt"/>
                <a:ea typeface="+mn-ea"/>
                <a:cs typeface="+mn-cs"/>
              </a:defRPr>
            </a:lvl3pPr>
            <a:lvl4pPr marL="1371600" indent="0" algn="ctr" eaLnBrk="1" hangingPunct="1">
              <a:buNone/>
              <a:defRPr sz="1600">
                <a:latin typeface="+mn-lt"/>
                <a:ea typeface="+mn-ea"/>
                <a:cs typeface="+mn-cs"/>
              </a:defRPr>
            </a:lvl4pPr>
            <a:lvl5pPr marL="1828800" indent="0" algn="ctr" eaLnBrk="1" hangingPunct="1">
              <a:buNone/>
              <a:defRPr sz="1600">
                <a:latin typeface="+mn-lt"/>
                <a:ea typeface="+mn-ea"/>
                <a:cs typeface="+mn-cs"/>
              </a:defRPr>
            </a:lvl5pPr>
            <a:lvl6pPr marL="2286000" indent="0" algn="ctr" eaLnBrk="1" hangingPunct="1">
              <a:buNone/>
              <a:defRPr sz="1600">
                <a:latin typeface="+mn-lt"/>
                <a:ea typeface="+mn-ea"/>
                <a:cs typeface="+mn-cs"/>
              </a:defRPr>
            </a:lvl6pPr>
            <a:lvl7pPr marL="2743200" indent="0" algn="ctr" eaLnBrk="1" hangingPunct="1">
              <a:buNone/>
              <a:defRPr sz="1600">
                <a:latin typeface="+mn-lt"/>
                <a:ea typeface="+mn-ea"/>
                <a:cs typeface="+mn-cs"/>
              </a:defRPr>
            </a:lvl7pPr>
            <a:lvl8pPr marL="3200400" indent="0" algn="ctr" eaLnBrk="1" hangingPunct="1">
              <a:buNone/>
              <a:defRPr sz="1600">
                <a:latin typeface="+mn-lt"/>
                <a:ea typeface="+mn-ea"/>
                <a:cs typeface="+mn-cs"/>
              </a:defRPr>
            </a:lvl8pPr>
            <a:lvl9pPr marL="3657600" indent="0" algn="ctr" eaLnBrk="1" hangingPunct="1">
              <a:buNone/>
              <a:defRPr sz="1600">
                <a:latin typeface="+mn-lt"/>
                <a:ea typeface="+mn-ea"/>
                <a:cs typeface="+mn-cs"/>
              </a:defRPr>
            </a:lvl9pPr>
          </a:lstStyle>
          <a:p>
            <a:pPr algn="just">
              <a:spcBef>
                <a:spcPts val="300"/>
              </a:spcBef>
            </a:pPr>
            <a:r>
              <a:rPr lang="uk-UA" sz="1500" dirty="0">
                <a:solidFill>
                  <a:srgbClr val="002060"/>
                </a:solidFill>
              </a:rPr>
              <a:t>Головна сторінка</a:t>
            </a:r>
          </a:p>
        </p:txBody>
      </p:sp>
      <p:pic>
        <p:nvPicPr>
          <p:cNvPr id="16" name="Рисунок 15">
            <a:extLst>
              <a:ext uri="{FF2B5EF4-FFF2-40B4-BE49-F238E27FC236}">
                <a16:creationId xmlns:a16="http://schemas.microsoft.com/office/drawing/2014/main" id="{3D6B9EEC-825A-7280-E6DD-E22C6BED824A}"/>
              </a:ext>
            </a:extLst>
          </p:cNvPr>
          <p:cNvPicPr>
            <a:picLocks noChangeAspect="1"/>
          </p:cNvPicPr>
          <p:nvPr/>
        </p:nvPicPr>
        <p:blipFill>
          <a:blip r:embed="rId4"/>
          <a:stretch>
            <a:fillRect/>
          </a:stretch>
        </p:blipFill>
        <p:spPr>
          <a:xfrm>
            <a:off x="9948615" y="1545812"/>
            <a:ext cx="2031134" cy="3506258"/>
          </a:xfrm>
          <a:prstGeom prst="rect">
            <a:avLst/>
          </a:prstGeom>
        </p:spPr>
      </p:pic>
      <p:sp>
        <p:nvSpPr>
          <p:cNvPr id="17" name="Підзаголовок 2">
            <a:extLst>
              <a:ext uri="{FF2B5EF4-FFF2-40B4-BE49-F238E27FC236}">
                <a16:creationId xmlns:a16="http://schemas.microsoft.com/office/drawing/2014/main" id="{CB31ABB4-A4A5-EF26-EE62-58E446830AB4}"/>
              </a:ext>
            </a:extLst>
          </p:cNvPr>
          <p:cNvSpPr txBox="1">
            <a:spLocks/>
          </p:cNvSpPr>
          <p:nvPr/>
        </p:nvSpPr>
        <p:spPr>
          <a:xfrm>
            <a:off x="10254669" y="5168304"/>
            <a:ext cx="1419025" cy="232230"/>
          </a:xfrm>
          <a:prstGeom prst="rect">
            <a:avLst/>
          </a:prstGeom>
        </p:spPr>
        <p:txBody>
          <a:bodyPr wrap="square" lIns="0" tIns="0" rIns="0" bIns="0">
            <a:spAutoFit/>
          </a:bodyPr>
          <a:lstStyle>
            <a:lvl1pPr marL="0" indent="0" algn="ctr" eaLnBrk="1" hangingPunct="1">
              <a:buNone/>
              <a:defRPr sz="2400" b="0" i="0">
                <a:solidFill>
                  <a:schemeClr val="bg1"/>
                </a:solidFill>
                <a:latin typeface="Calibri"/>
                <a:ea typeface="+mn-ea"/>
                <a:cs typeface="Calibri"/>
              </a:defRPr>
            </a:lvl1pPr>
            <a:lvl2pPr marL="457200" indent="0" algn="ctr" eaLnBrk="1" hangingPunct="1">
              <a:buNone/>
              <a:defRPr sz="2000">
                <a:latin typeface="+mn-lt"/>
                <a:ea typeface="+mn-ea"/>
                <a:cs typeface="+mn-cs"/>
              </a:defRPr>
            </a:lvl2pPr>
            <a:lvl3pPr marL="914400" indent="0" algn="ctr" eaLnBrk="1" hangingPunct="1">
              <a:buNone/>
              <a:defRPr sz="1800">
                <a:latin typeface="+mn-lt"/>
                <a:ea typeface="+mn-ea"/>
                <a:cs typeface="+mn-cs"/>
              </a:defRPr>
            </a:lvl3pPr>
            <a:lvl4pPr marL="1371600" indent="0" algn="ctr" eaLnBrk="1" hangingPunct="1">
              <a:buNone/>
              <a:defRPr sz="1600">
                <a:latin typeface="+mn-lt"/>
                <a:ea typeface="+mn-ea"/>
                <a:cs typeface="+mn-cs"/>
              </a:defRPr>
            </a:lvl4pPr>
            <a:lvl5pPr marL="1828800" indent="0" algn="ctr" eaLnBrk="1" hangingPunct="1">
              <a:buNone/>
              <a:defRPr sz="1600">
                <a:latin typeface="+mn-lt"/>
                <a:ea typeface="+mn-ea"/>
                <a:cs typeface="+mn-cs"/>
              </a:defRPr>
            </a:lvl5pPr>
            <a:lvl6pPr marL="2286000" indent="0" algn="ctr" eaLnBrk="1" hangingPunct="1">
              <a:buNone/>
              <a:defRPr sz="1600">
                <a:latin typeface="+mn-lt"/>
                <a:ea typeface="+mn-ea"/>
                <a:cs typeface="+mn-cs"/>
              </a:defRPr>
            </a:lvl6pPr>
            <a:lvl7pPr marL="2743200" indent="0" algn="ctr" eaLnBrk="1" hangingPunct="1">
              <a:buNone/>
              <a:defRPr sz="1600">
                <a:latin typeface="+mn-lt"/>
                <a:ea typeface="+mn-ea"/>
                <a:cs typeface="+mn-cs"/>
              </a:defRPr>
            </a:lvl7pPr>
            <a:lvl8pPr marL="3200400" indent="0" algn="ctr" eaLnBrk="1" hangingPunct="1">
              <a:buNone/>
              <a:defRPr sz="1600">
                <a:latin typeface="+mn-lt"/>
                <a:ea typeface="+mn-ea"/>
                <a:cs typeface="+mn-cs"/>
              </a:defRPr>
            </a:lvl8pPr>
            <a:lvl9pPr marL="3657600" indent="0" algn="ctr" eaLnBrk="1" hangingPunct="1">
              <a:buNone/>
              <a:defRPr sz="1600">
                <a:latin typeface="+mn-lt"/>
                <a:ea typeface="+mn-ea"/>
                <a:cs typeface="+mn-cs"/>
              </a:defRPr>
            </a:lvl9pPr>
          </a:lstStyle>
          <a:p>
            <a:pPr algn="just">
              <a:spcBef>
                <a:spcPts val="300"/>
              </a:spcBef>
            </a:pPr>
            <a:r>
              <a:rPr lang="uk-UA" sz="1500" dirty="0">
                <a:solidFill>
                  <a:srgbClr val="002060"/>
                </a:solidFill>
              </a:rPr>
              <a:t>Форма реєстрації</a:t>
            </a:r>
          </a:p>
        </p:txBody>
      </p:sp>
    </p:spTree>
    <p:extLst>
      <p:ext uri="{BB962C8B-B14F-4D97-AF65-F5344CB8AC3E}">
        <p14:creationId xmlns:p14="http://schemas.microsoft.com/office/powerpoint/2010/main" val="3832645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68B5-76E5-AA12-2DAD-C364DCA4FD7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A4819BA-DF06-74CE-E502-166EA35146D9}"/>
              </a:ext>
            </a:extLst>
          </p:cNvPr>
          <p:cNvSpPr>
            <a:spLocks noGrp="1"/>
          </p:cNvSpPr>
          <p:nvPr>
            <p:ph type="ctrTitle"/>
          </p:nvPr>
        </p:nvSpPr>
        <p:spPr>
          <a:xfrm>
            <a:off x="1524000" y="1101199"/>
            <a:ext cx="9144000" cy="1846659"/>
          </a:xfrm>
        </p:spPr>
        <p:txBody>
          <a:bodyPr/>
          <a:lstStyle/>
          <a:p>
            <a:r>
              <a:rPr lang="uk-UA" dirty="0">
                <a:solidFill>
                  <a:srgbClr val="002060"/>
                </a:solidFill>
              </a:rPr>
              <a:t>Реалізація системи</a:t>
            </a:r>
            <a:br>
              <a:rPr lang="uk-UA" dirty="0">
                <a:solidFill>
                  <a:srgbClr val="002060"/>
                </a:solidFill>
              </a:rPr>
            </a:br>
            <a:endParaRPr lang="uk-UA" dirty="0"/>
          </a:p>
        </p:txBody>
      </p:sp>
      <p:sp>
        <p:nvSpPr>
          <p:cNvPr id="4" name="TextBox 3">
            <a:extLst>
              <a:ext uri="{FF2B5EF4-FFF2-40B4-BE49-F238E27FC236}">
                <a16:creationId xmlns:a16="http://schemas.microsoft.com/office/drawing/2014/main" id="{D8BE68D9-DDAE-1F44-D882-98208903848D}"/>
              </a:ext>
            </a:extLst>
          </p:cNvPr>
          <p:cNvSpPr txBox="1"/>
          <p:nvPr/>
        </p:nvSpPr>
        <p:spPr>
          <a:xfrm>
            <a:off x="9136251" y="6350230"/>
            <a:ext cx="3029245" cy="461665"/>
          </a:xfrm>
          <a:prstGeom prst="rect">
            <a:avLst/>
          </a:prstGeom>
          <a:noFill/>
        </p:spPr>
        <p:txBody>
          <a:bodyPr wrap="square" rtlCol="0">
            <a:spAutoFit/>
          </a:bodyPr>
          <a:lstStyle/>
          <a:p>
            <a:pPr algn="r"/>
            <a:r>
              <a:rPr lang="uk-UA" sz="2400" dirty="0">
                <a:solidFill>
                  <a:schemeClr val="bg1"/>
                </a:solidFill>
              </a:rPr>
              <a:t>12/16</a:t>
            </a:r>
          </a:p>
        </p:txBody>
      </p:sp>
      <p:sp>
        <p:nvSpPr>
          <p:cNvPr id="5" name="TextBox 4">
            <a:extLst>
              <a:ext uri="{FF2B5EF4-FFF2-40B4-BE49-F238E27FC236}">
                <a16:creationId xmlns:a16="http://schemas.microsoft.com/office/drawing/2014/main" id="{3625039D-F41C-A62E-8411-CD3F35A21EA5}"/>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7" name="Підзаголовок 2">
            <a:extLst>
              <a:ext uri="{FF2B5EF4-FFF2-40B4-BE49-F238E27FC236}">
                <a16:creationId xmlns:a16="http://schemas.microsoft.com/office/drawing/2014/main" id="{E76DBCCA-4000-9074-3043-6BFE7AC3A483}"/>
              </a:ext>
            </a:extLst>
          </p:cNvPr>
          <p:cNvSpPr>
            <a:spLocks noGrp="1"/>
          </p:cNvSpPr>
          <p:nvPr>
            <p:ph type="subTitle" idx="1"/>
          </p:nvPr>
        </p:nvSpPr>
        <p:spPr>
          <a:xfrm>
            <a:off x="2314524" y="5161138"/>
            <a:ext cx="1908353" cy="230832"/>
          </a:xfrm>
        </p:spPr>
        <p:txBody>
          <a:bodyPr/>
          <a:lstStyle/>
          <a:p>
            <a:pPr>
              <a:spcBef>
                <a:spcPts val="300"/>
              </a:spcBef>
            </a:pPr>
            <a:r>
              <a:rPr lang="uk-UA" sz="1500" dirty="0">
                <a:solidFill>
                  <a:srgbClr val="002060"/>
                </a:solidFill>
              </a:rPr>
              <a:t>Розділи калькуляторів</a:t>
            </a:r>
          </a:p>
        </p:txBody>
      </p:sp>
      <p:sp>
        <p:nvSpPr>
          <p:cNvPr id="11" name="Підзаголовок 2">
            <a:extLst>
              <a:ext uri="{FF2B5EF4-FFF2-40B4-BE49-F238E27FC236}">
                <a16:creationId xmlns:a16="http://schemas.microsoft.com/office/drawing/2014/main" id="{26E39A97-74AC-4221-9C42-B76238B964E9}"/>
              </a:ext>
            </a:extLst>
          </p:cNvPr>
          <p:cNvSpPr txBox="1">
            <a:spLocks/>
          </p:cNvSpPr>
          <p:nvPr/>
        </p:nvSpPr>
        <p:spPr>
          <a:xfrm>
            <a:off x="7814384" y="5162961"/>
            <a:ext cx="2236388" cy="230832"/>
          </a:xfrm>
          <a:prstGeom prst="rect">
            <a:avLst/>
          </a:prstGeom>
        </p:spPr>
        <p:txBody>
          <a:bodyPr wrap="square" lIns="0" tIns="0" rIns="0" bIns="0">
            <a:spAutoFit/>
          </a:bodyPr>
          <a:lstStyle>
            <a:lvl1pPr marL="0" indent="0" algn="ctr" eaLnBrk="1" hangingPunct="1">
              <a:buNone/>
              <a:defRPr sz="2400" b="0" i="0">
                <a:solidFill>
                  <a:schemeClr val="bg1"/>
                </a:solidFill>
                <a:latin typeface="Calibri"/>
                <a:ea typeface="+mn-ea"/>
                <a:cs typeface="Calibri"/>
              </a:defRPr>
            </a:lvl1pPr>
            <a:lvl2pPr marL="457200" indent="0" algn="ctr" eaLnBrk="1" hangingPunct="1">
              <a:buNone/>
              <a:defRPr sz="2000">
                <a:latin typeface="+mn-lt"/>
                <a:ea typeface="+mn-ea"/>
                <a:cs typeface="+mn-cs"/>
              </a:defRPr>
            </a:lvl2pPr>
            <a:lvl3pPr marL="914400" indent="0" algn="ctr" eaLnBrk="1" hangingPunct="1">
              <a:buNone/>
              <a:defRPr sz="1800">
                <a:latin typeface="+mn-lt"/>
                <a:ea typeface="+mn-ea"/>
                <a:cs typeface="+mn-cs"/>
              </a:defRPr>
            </a:lvl3pPr>
            <a:lvl4pPr marL="1371600" indent="0" algn="ctr" eaLnBrk="1" hangingPunct="1">
              <a:buNone/>
              <a:defRPr sz="1600">
                <a:latin typeface="+mn-lt"/>
                <a:ea typeface="+mn-ea"/>
                <a:cs typeface="+mn-cs"/>
              </a:defRPr>
            </a:lvl4pPr>
            <a:lvl5pPr marL="1828800" indent="0" algn="ctr" eaLnBrk="1" hangingPunct="1">
              <a:buNone/>
              <a:defRPr sz="1600">
                <a:latin typeface="+mn-lt"/>
                <a:ea typeface="+mn-ea"/>
                <a:cs typeface="+mn-cs"/>
              </a:defRPr>
            </a:lvl5pPr>
            <a:lvl6pPr marL="2286000" indent="0" algn="ctr" eaLnBrk="1" hangingPunct="1">
              <a:buNone/>
              <a:defRPr sz="1600">
                <a:latin typeface="+mn-lt"/>
                <a:ea typeface="+mn-ea"/>
                <a:cs typeface="+mn-cs"/>
              </a:defRPr>
            </a:lvl6pPr>
            <a:lvl7pPr marL="2743200" indent="0" algn="ctr" eaLnBrk="1" hangingPunct="1">
              <a:buNone/>
              <a:defRPr sz="1600">
                <a:latin typeface="+mn-lt"/>
                <a:ea typeface="+mn-ea"/>
                <a:cs typeface="+mn-cs"/>
              </a:defRPr>
            </a:lvl7pPr>
            <a:lvl8pPr marL="3200400" indent="0" algn="ctr" eaLnBrk="1" hangingPunct="1">
              <a:buNone/>
              <a:defRPr sz="1600">
                <a:latin typeface="+mn-lt"/>
                <a:ea typeface="+mn-ea"/>
                <a:cs typeface="+mn-cs"/>
              </a:defRPr>
            </a:lvl8pPr>
            <a:lvl9pPr marL="3657600" indent="0" algn="ctr" eaLnBrk="1" hangingPunct="1">
              <a:buNone/>
              <a:defRPr sz="1600">
                <a:latin typeface="+mn-lt"/>
                <a:ea typeface="+mn-ea"/>
                <a:cs typeface="+mn-cs"/>
              </a:defRPr>
            </a:lvl9pPr>
          </a:lstStyle>
          <a:p>
            <a:pPr>
              <a:spcBef>
                <a:spcPts val="300"/>
              </a:spcBef>
            </a:pPr>
            <a:r>
              <a:rPr lang="uk-UA" sz="1500" dirty="0">
                <a:solidFill>
                  <a:srgbClr val="002060"/>
                </a:solidFill>
              </a:rPr>
              <a:t>Довідник і пошук у ньому</a:t>
            </a:r>
          </a:p>
        </p:txBody>
      </p:sp>
      <p:pic>
        <p:nvPicPr>
          <p:cNvPr id="19" name="Рисунок 18">
            <a:extLst>
              <a:ext uri="{FF2B5EF4-FFF2-40B4-BE49-F238E27FC236}">
                <a16:creationId xmlns:a16="http://schemas.microsoft.com/office/drawing/2014/main" id="{E8D7B881-0CF1-B7C9-B094-14A8E5889A3A}"/>
              </a:ext>
            </a:extLst>
          </p:cNvPr>
          <p:cNvPicPr>
            <a:picLocks noChangeAspect="1"/>
          </p:cNvPicPr>
          <p:nvPr/>
        </p:nvPicPr>
        <p:blipFill>
          <a:blip r:embed="rId2"/>
          <a:stretch>
            <a:fillRect/>
          </a:stretch>
        </p:blipFill>
        <p:spPr>
          <a:xfrm>
            <a:off x="940525" y="2527421"/>
            <a:ext cx="4656353" cy="2524647"/>
          </a:xfrm>
          <a:prstGeom prst="rect">
            <a:avLst/>
          </a:prstGeom>
        </p:spPr>
      </p:pic>
      <p:pic>
        <p:nvPicPr>
          <p:cNvPr id="21" name="Рисунок 20">
            <a:extLst>
              <a:ext uri="{FF2B5EF4-FFF2-40B4-BE49-F238E27FC236}">
                <a16:creationId xmlns:a16="http://schemas.microsoft.com/office/drawing/2014/main" id="{9C4C1C66-66DD-6404-183C-90EDFC0712DC}"/>
              </a:ext>
            </a:extLst>
          </p:cNvPr>
          <p:cNvPicPr>
            <a:picLocks noChangeAspect="1"/>
          </p:cNvPicPr>
          <p:nvPr/>
        </p:nvPicPr>
        <p:blipFill>
          <a:blip r:embed="rId3"/>
          <a:stretch>
            <a:fillRect/>
          </a:stretch>
        </p:blipFill>
        <p:spPr>
          <a:xfrm>
            <a:off x="6595124" y="2527421"/>
            <a:ext cx="4674908" cy="2524647"/>
          </a:xfrm>
          <a:prstGeom prst="rect">
            <a:avLst/>
          </a:prstGeom>
        </p:spPr>
      </p:pic>
    </p:spTree>
    <p:extLst>
      <p:ext uri="{BB962C8B-B14F-4D97-AF65-F5344CB8AC3E}">
        <p14:creationId xmlns:p14="http://schemas.microsoft.com/office/powerpoint/2010/main" val="1485617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9EFFD-B4BE-9CC4-179F-6533AF32753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3B9A55-9928-D4E1-9A68-3BAFB865E682}"/>
              </a:ext>
            </a:extLst>
          </p:cNvPr>
          <p:cNvSpPr>
            <a:spLocks noGrp="1"/>
          </p:cNvSpPr>
          <p:nvPr>
            <p:ph type="ctrTitle"/>
          </p:nvPr>
        </p:nvSpPr>
        <p:spPr>
          <a:xfrm>
            <a:off x="1524000" y="1101199"/>
            <a:ext cx="9144000" cy="1846659"/>
          </a:xfrm>
        </p:spPr>
        <p:txBody>
          <a:bodyPr/>
          <a:lstStyle/>
          <a:p>
            <a:r>
              <a:rPr lang="uk-UA" dirty="0">
                <a:solidFill>
                  <a:srgbClr val="002060"/>
                </a:solidFill>
              </a:rPr>
              <a:t>Реалізація системи</a:t>
            </a:r>
            <a:br>
              <a:rPr lang="uk-UA" dirty="0">
                <a:solidFill>
                  <a:srgbClr val="002060"/>
                </a:solidFill>
              </a:rPr>
            </a:br>
            <a:endParaRPr lang="uk-UA" dirty="0"/>
          </a:p>
        </p:txBody>
      </p:sp>
      <p:sp>
        <p:nvSpPr>
          <p:cNvPr id="4" name="TextBox 3">
            <a:extLst>
              <a:ext uri="{FF2B5EF4-FFF2-40B4-BE49-F238E27FC236}">
                <a16:creationId xmlns:a16="http://schemas.microsoft.com/office/drawing/2014/main" id="{C18DEE51-5C5D-5A9F-630B-E28DE459C07D}"/>
              </a:ext>
            </a:extLst>
          </p:cNvPr>
          <p:cNvSpPr txBox="1"/>
          <p:nvPr/>
        </p:nvSpPr>
        <p:spPr>
          <a:xfrm>
            <a:off x="9136251" y="6350230"/>
            <a:ext cx="3029245" cy="461665"/>
          </a:xfrm>
          <a:prstGeom prst="rect">
            <a:avLst/>
          </a:prstGeom>
          <a:noFill/>
        </p:spPr>
        <p:txBody>
          <a:bodyPr wrap="square" rtlCol="0">
            <a:spAutoFit/>
          </a:bodyPr>
          <a:lstStyle/>
          <a:p>
            <a:pPr algn="r"/>
            <a:r>
              <a:rPr lang="uk-UA" sz="2400" dirty="0">
                <a:solidFill>
                  <a:schemeClr val="bg1"/>
                </a:solidFill>
              </a:rPr>
              <a:t>13/16</a:t>
            </a:r>
          </a:p>
        </p:txBody>
      </p:sp>
      <p:sp>
        <p:nvSpPr>
          <p:cNvPr id="5" name="TextBox 4">
            <a:extLst>
              <a:ext uri="{FF2B5EF4-FFF2-40B4-BE49-F238E27FC236}">
                <a16:creationId xmlns:a16="http://schemas.microsoft.com/office/drawing/2014/main" id="{46477AFF-2739-DAFA-0583-7D0DDFB1AE51}"/>
              </a:ext>
            </a:extLst>
          </p:cNvPr>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7" name="Підзаголовок 2">
            <a:extLst>
              <a:ext uri="{FF2B5EF4-FFF2-40B4-BE49-F238E27FC236}">
                <a16:creationId xmlns:a16="http://schemas.microsoft.com/office/drawing/2014/main" id="{548E4DA9-6317-DFF0-E4FD-EF9F28235708}"/>
              </a:ext>
            </a:extLst>
          </p:cNvPr>
          <p:cNvSpPr>
            <a:spLocks noGrp="1"/>
          </p:cNvSpPr>
          <p:nvPr>
            <p:ph type="subTitle" idx="1"/>
          </p:nvPr>
        </p:nvSpPr>
        <p:spPr>
          <a:xfrm>
            <a:off x="880834" y="5698538"/>
            <a:ext cx="1358957" cy="230832"/>
          </a:xfrm>
        </p:spPr>
        <p:txBody>
          <a:bodyPr/>
          <a:lstStyle/>
          <a:p>
            <a:pPr>
              <a:spcBef>
                <a:spcPts val="300"/>
              </a:spcBef>
            </a:pPr>
            <a:r>
              <a:rPr lang="uk-UA" sz="1500" dirty="0">
                <a:solidFill>
                  <a:srgbClr val="002060"/>
                </a:solidFill>
              </a:rPr>
              <a:t>Кабінет</a:t>
            </a:r>
          </a:p>
        </p:txBody>
      </p:sp>
      <p:sp>
        <p:nvSpPr>
          <p:cNvPr id="8" name="Підзаголовок 2">
            <a:extLst>
              <a:ext uri="{FF2B5EF4-FFF2-40B4-BE49-F238E27FC236}">
                <a16:creationId xmlns:a16="http://schemas.microsoft.com/office/drawing/2014/main" id="{A0F387BB-096D-B52E-8E75-38A45EC03AF2}"/>
              </a:ext>
            </a:extLst>
          </p:cNvPr>
          <p:cNvSpPr txBox="1">
            <a:spLocks/>
          </p:cNvSpPr>
          <p:nvPr/>
        </p:nvSpPr>
        <p:spPr>
          <a:xfrm>
            <a:off x="5078264" y="5698537"/>
            <a:ext cx="2035469" cy="235208"/>
          </a:xfrm>
          <a:prstGeom prst="rect">
            <a:avLst/>
          </a:prstGeom>
        </p:spPr>
        <p:txBody>
          <a:bodyPr wrap="square" lIns="0" tIns="0" rIns="0" bIns="0">
            <a:spAutoFit/>
          </a:bodyPr>
          <a:lstStyle>
            <a:lvl1pPr marL="0" indent="0" algn="ctr" eaLnBrk="1" hangingPunct="1">
              <a:buNone/>
              <a:defRPr sz="2400" b="0" i="0">
                <a:solidFill>
                  <a:schemeClr val="bg1"/>
                </a:solidFill>
                <a:latin typeface="Calibri"/>
                <a:ea typeface="+mn-ea"/>
                <a:cs typeface="Calibri"/>
              </a:defRPr>
            </a:lvl1pPr>
            <a:lvl2pPr marL="457200" indent="0" algn="ctr" eaLnBrk="1" hangingPunct="1">
              <a:buNone/>
              <a:defRPr sz="2000">
                <a:latin typeface="+mn-lt"/>
                <a:ea typeface="+mn-ea"/>
                <a:cs typeface="+mn-cs"/>
              </a:defRPr>
            </a:lvl2pPr>
            <a:lvl3pPr marL="914400" indent="0" algn="ctr" eaLnBrk="1" hangingPunct="1">
              <a:buNone/>
              <a:defRPr sz="1800">
                <a:latin typeface="+mn-lt"/>
                <a:ea typeface="+mn-ea"/>
                <a:cs typeface="+mn-cs"/>
              </a:defRPr>
            </a:lvl3pPr>
            <a:lvl4pPr marL="1371600" indent="0" algn="ctr" eaLnBrk="1" hangingPunct="1">
              <a:buNone/>
              <a:defRPr sz="1600">
                <a:latin typeface="+mn-lt"/>
                <a:ea typeface="+mn-ea"/>
                <a:cs typeface="+mn-cs"/>
              </a:defRPr>
            </a:lvl4pPr>
            <a:lvl5pPr marL="1828800" indent="0" algn="ctr" eaLnBrk="1" hangingPunct="1">
              <a:buNone/>
              <a:defRPr sz="1600">
                <a:latin typeface="+mn-lt"/>
                <a:ea typeface="+mn-ea"/>
                <a:cs typeface="+mn-cs"/>
              </a:defRPr>
            </a:lvl5pPr>
            <a:lvl6pPr marL="2286000" indent="0" algn="ctr" eaLnBrk="1" hangingPunct="1">
              <a:buNone/>
              <a:defRPr sz="1600">
                <a:latin typeface="+mn-lt"/>
                <a:ea typeface="+mn-ea"/>
                <a:cs typeface="+mn-cs"/>
              </a:defRPr>
            </a:lvl6pPr>
            <a:lvl7pPr marL="2743200" indent="0" algn="ctr" eaLnBrk="1" hangingPunct="1">
              <a:buNone/>
              <a:defRPr sz="1600">
                <a:latin typeface="+mn-lt"/>
                <a:ea typeface="+mn-ea"/>
                <a:cs typeface="+mn-cs"/>
              </a:defRPr>
            </a:lvl7pPr>
            <a:lvl8pPr marL="3200400" indent="0" algn="ctr" eaLnBrk="1" hangingPunct="1">
              <a:buNone/>
              <a:defRPr sz="1600">
                <a:latin typeface="+mn-lt"/>
                <a:ea typeface="+mn-ea"/>
                <a:cs typeface="+mn-cs"/>
              </a:defRPr>
            </a:lvl8pPr>
            <a:lvl9pPr marL="3657600" indent="0" algn="ctr" eaLnBrk="1" hangingPunct="1">
              <a:buNone/>
              <a:defRPr sz="1600">
                <a:latin typeface="+mn-lt"/>
                <a:ea typeface="+mn-ea"/>
                <a:cs typeface="+mn-cs"/>
              </a:defRPr>
            </a:lvl9pPr>
          </a:lstStyle>
          <a:p>
            <a:pPr>
              <a:spcBef>
                <a:spcPts val="300"/>
              </a:spcBef>
            </a:pPr>
            <a:r>
              <a:rPr lang="uk-UA" sz="1500" dirty="0">
                <a:solidFill>
                  <a:srgbClr val="002060"/>
                </a:solidFill>
              </a:rPr>
              <a:t>Налаштування профілю</a:t>
            </a:r>
          </a:p>
        </p:txBody>
      </p:sp>
      <p:pic>
        <p:nvPicPr>
          <p:cNvPr id="15" name="Рисунок 14">
            <a:extLst>
              <a:ext uri="{FF2B5EF4-FFF2-40B4-BE49-F238E27FC236}">
                <a16:creationId xmlns:a16="http://schemas.microsoft.com/office/drawing/2014/main" id="{0878A677-CED1-1845-742D-45584DCC8060}"/>
              </a:ext>
            </a:extLst>
          </p:cNvPr>
          <p:cNvPicPr>
            <a:picLocks noChangeAspect="1"/>
          </p:cNvPicPr>
          <p:nvPr/>
        </p:nvPicPr>
        <p:blipFill>
          <a:blip r:embed="rId2"/>
          <a:srcRect t="10117" b="6136"/>
          <a:stretch>
            <a:fillRect/>
          </a:stretch>
        </p:blipFill>
        <p:spPr>
          <a:xfrm>
            <a:off x="606137" y="2121748"/>
            <a:ext cx="1908353" cy="3461373"/>
          </a:xfrm>
          <a:prstGeom prst="rect">
            <a:avLst/>
          </a:prstGeom>
        </p:spPr>
      </p:pic>
      <p:pic>
        <p:nvPicPr>
          <p:cNvPr id="19" name="Рисунок 18">
            <a:extLst>
              <a:ext uri="{FF2B5EF4-FFF2-40B4-BE49-F238E27FC236}">
                <a16:creationId xmlns:a16="http://schemas.microsoft.com/office/drawing/2014/main" id="{0CA627BF-1B6A-B528-20F0-201B048E2C96}"/>
              </a:ext>
            </a:extLst>
          </p:cNvPr>
          <p:cNvPicPr>
            <a:picLocks noChangeAspect="1"/>
          </p:cNvPicPr>
          <p:nvPr/>
        </p:nvPicPr>
        <p:blipFill>
          <a:blip r:embed="rId3"/>
          <a:srcRect t="4561" b="5848"/>
          <a:stretch>
            <a:fillRect/>
          </a:stretch>
        </p:blipFill>
        <p:spPr>
          <a:xfrm>
            <a:off x="2889860" y="2121748"/>
            <a:ext cx="1843352" cy="3576789"/>
          </a:xfrm>
          <a:prstGeom prst="rect">
            <a:avLst/>
          </a:prstGeom>
        </p:spPr>
      </p:pic>
      <p:sp>
        <p:nvSpPr>
          <p:cNvPr id="20" name="Підзаголовок 2">
            <a:extLst>
              <a:ext uri="{FF2B5EF4-FFF2-40B4-BE49-F238E27FC236}">
                <a16:creationId xmlns:a16="http://schemas.microsoft.com/office/drawing/2014/main" id="{147A645A-8238-C667-33DE-EDFB7F87A84B}"/>
              </a:ext>
            </a:extLst>
          </p:cNvPr>
          <p:cNvSpPr txBox="1">
            <a:spLocks/>
          </p:cNvSpPr>
          <p:nvPr/>
        </p:nvSpPr>
        <p:spPr>
          <a:xfrm>
            <a:off x="3132057" y="5698537"/>
            <a:ext cx="1358957" cy="230832"/>
          </a:xfrm>
          <a:prstGeom prst="rect">
            <a:avLst/>
          </a:prstGeom>
        </p:spPr>
        <p:txBody>
          <a:bodyPr wrap="square" lIns="0" tIns="0" rIns="0" bIns="0">
            <a:spAutoFit/>
          </a:bodyPr>
          <a:lstStyle>
            <a:lvl1pPr marL="0" indent="0" algn="ctr" eaLnBrk="1" hangingPunct="1">
              <a:buNone/>
              <a:defRPr sz="2400" b="0" i="0">
                <a:solidFill>
                  <a:schemeClr val="bg1"/>
                </a:solidFill>
                <a:latin typeface="Calibri"/>
                <a:ea typeface="+mn-ea"/>
                <a:cs typeface="Calibri"/>
              </a:defRPr>
            </a:lvl1pPr>
            <a:lvl2pPr marL="457200" indent="0" algn="ctr" eaLnBrk="1" hangingPunct="1">
              <a:buNone/>
              <a:defRPr sz="2000">
                <a:latin typeface="+mn-lt"/>
                <a:ea typeface="+mn-ea"/>
                <a:cs typeface="+mn-cs"/>
              </a:defRPr>
            </a:lvl2pPr>
            <a:lvl3pPr marL="914400" indent="0" algn="ctr" eaLnBrk="1" hangingPunct="1">
              <a:buNone/>
              <a:defRPr sz="1800">
                <a:latin typeface="+mn-lt"/>
                <a:ea typeface="+mn-ea"/>
                <a:cs typeface="+mn-cs"/>
              </a:defRPr>
            </a:lvl3pPr>
            <a:lvl4pPr marL="1371600" indent="0" algn="ctr" eaLnBrk="1" hangingPunct="1">
              <a:buNone/>
              <a:defRPr sz="1600">
                <a:latin typeface="+mn-lt"/>
                <a:ea typeface="+mn-ea"/>
                <a:cs typeface="+mn-cs"/>
              </a:defRPr>
            </a:lvl4pPr>
            <a:lvl5pPr marL="1828800" indent="0" algn="ctr" eaLnBrk="1" hangingPunct="1">
              <a:buNone/>
              <a:defRPr sz="1600">
                <a:latin typeface="+mn-lt"/>
                <a:ea typeface="+mn-ea"/>
                <a:cs typeface="+mn-cs"/>
              </a:defRPr>
            </a:lvl5pPr>
            <a:lvl6pPr marL="2286000" indent="0" algn="ctr" eaLnBrk="1" hangingPunct="1">
              <a:buNone/>
              <a:defRPr sz="1600">
                <a:latin typeface="+mn-lt"/>
                <a:ea typeface="+mn-ea"/>
                <a:cs typeface="+mn-cs"/>
              </a:defRPr>
            </a:lvl6pPr>
            <a:lvl7pPr marL="2743200" indent="0" algn="ctr" eaLnBrk="1" hangingPunct="1">
              <a:buNone/>
              <a:defRPr sz="1600">
                <a:latin typeface="+mn-lt"/>
                <a:ea typeface="+mn-ea"/>
                <a:cs typeface="+mn-cs"/>
              </a:defRPr>
            </a:lvl7pPr>
            <a:lvl8pPr marL="3200400" indent="0" algn="ctr" eaLnBrk="1" hangingPunct="1">
              <a:buNone/>
              <a:defRPr sz="1600">
                <a:latin typeface="+mn-lt"/>
                <a:ea typeface="+mn-ea"/>
                <a:cs typeface="+mn-cs"/>
              </a:defRPr>
            </a:lvl8pPr>
            <a:lvl9pPr marL="3657600" indent="0" algn="ctr" eaLnBrk="1" hangingPunct="1">
              <a:buNone/>
              <a:defRPr sz="1600">
                <a:latin typeface="+mn-lt"/>
                <a:ea typeface="+mn-ea"/>
                <a:cs typeface="+mn-cs"/>
              </a:defRPr>
            </a:lvl9pPr>
          </a:lstStyle>
          <a:p>
            <a:pPr>
              <a:spcBef>
                <a:spcPts val="300"/>
              </a:spcBef>
            </a:pPr>
            <a:r>
              <a:rPr lang="uk-UA" sz="1500" dirty="0">
                <a:solidFill>
                  <a:srgbClr val="002060"/>
                </a:solidFill>
              </a:rPr>
              <a:t>Проєкти</a:t>
            </a:r>
          </a:p>
        </p:txBody>
      </p:sp>
      <p:pic>
        <p:nvPicPr>
          <p:cNvPr id="24" name="Рисунок 23">
            <a:extLst>
              <a:ext uri="{FF2B5EF4-FFF2-40B4-BE49-F238E27FC236}">
                <a16:creationId xmlns:a16="http://schemas.microsoft.com/office/drawing/2014/main" id="{5FF35AC9-E52C-C779-EF76-13D8BE805583}"/>
              </a:ext>
            </a:extLst>
          </p:cNvPr>
          <p:cNvPicPr>
            <a:picLocks noChangeAspect="1"/>
          </p:cNvPicPr>
          <p:nvPr/>
        </p:nvPicPr>
        <p:blipFill>
          <a:blip r:embed="rId4"/>
          <a:srcRect t="10409" b="5965"/>
          <a:stretch>
            <a:fillRect/>
          </a:stretch>
        </p:blipFill>
        <p:spPr>
          <a:xfrm>
            <a:off x="5108582" y="2121749"/>
            <a:ext cx="1974835" cy="3576788"/>
          </a:xfrm>
          <a:prstGeom prst="rect">
            <a:avLst/>
          </a:prstGeom>
        </p:spPr>
      </p:pic>
      <p:pic>
        <p:nvPicPr>
          <p:cNvPr id="28" name="Рисунок 27">
            <a:extLst>
              <a:ext uri="{FF2B5EF4-FFF2-40B4-BE49-F238E27FC236}">
                <a16:creationId xmlns:a16="http://schemas.microsoft.com/office/drawing/2014/main" id="{E5E1C803-DC82-F566-9895-58F51B0BC5B2}"/>
              </a:ext>
            </a:extLst>
          </p:cNvPr>
          <p:cNvPicPr>
            <a:picLocks noChangeAspect="1"/>
          </p:cNvPicPr>
          <p:nvPr/>
        </p:nvPicPr>
        <p:blipFill>
          <a:blip r:embed="rId5"/>
          <a:srcRect t="3742" b="5613"/>
          <a:stretch>
            <a:fillRect/>
          </a:stretch>
        </p:blipFill>
        <p:spPr>
          <a:xfrm>
            <a:off x="7458785" y="2121748"/>
            <a:ext cx="1821945" cy="3576788"/>
          </a:xfrm>
          <a:prstGeom prst="rect">
            <a:avLst/>
          </a:prstGeom>
        </p:spPr>
      </p:pic>
      <p:sp>
        <p:nvSpPr>
          <p:cNvPr id="29" name="Підзаголовок 2">
            <a:extLst>
              <a:ext uri="{FF2B5EF4-FFF2-40B4-BE49-F238E27FC236}">
                <a16:creationId xmlns:a16="http://schemas.microsoft.com/office/drawing/2014/main" id="{46517D2C-B9CE-B823-0EB5-165740B98730}"/>
              </a:ext>
            </a:extLst>
          </p:cNvPr>
          <p:cNvSpPr txBox="1">
            <a:spLocks/>
          </p:cNvSpPr>
          <p:nvPr/>
        </p:nvSpPr>
        <p:spPr>
          <a:xfrm>
            <a:off x="7690278" y="5698536"/>
            <a:ext cx="1358957" cy="230832"/>
          </a:xfrm>
          <a:prstGeom prst="rect">
            <a:avLst/>
          </a:prstGeom>
        </p:spPr>
        <p:txBody>
          <a:bodyPr wrap="square" lIns="0" tIns="0" rIns="0" bIns="0">
            <a:spAutoFit/>
          </a:bodyPr>
          <a:lstStyle>
            <a:lvl1pPr marL="0" indent="0" algn="ctr" eaLnBrk="1" hangingPunct="1">
              <a:buNone/>
              <a:defRPr sz="2400" b="0" i="0">
                <a:solidFill>
                  <a:schemeClr val="bg1"/>
                </a:solidFill>
                <a:latin typeface="Calibri"/>
                <a:ea typeface="+mn-ea"/>
                <a:cs typeface="Calibri"/>
              </a:defRPr>
            </a:lvl1pPr>
            <a:lvl2pPr marL="457200" indent="0" algn="ctr" eaLnBrk="1" hangingPunct="1">
              <a:buNone/>
              <a:defRPr sz="2000">
                <a:latin typeface="+mn-lt"/>
                <a:ea typeface="+mn-ea"/>
                <a:cs typeface="+mn-cs"/>
              </a:defRPr>
            </a:lvl2pPr>
            <a:lvl3pPr marL="914400" indent="0" algn="ctr" eaLnBrk="1" hangingPunct="1">
              <a:buNone/>
              <a:defRPr sz="1800">
                <a:latin typeface="+mn-lt"/>
                <a:ea typeface="+mn-ea"/>
                <a:cs typeface="+mn-cs"/>
              </a:defRPr>
            </a:lvl3pPr>
            <a:lvl4pPr marL="1371600" indent="0" algn="ctr" eaLnBrk="1" hangingPunct="1">
              <a:buNone/>
              <a:defRPr sz="1600">
                <a:latin typeface="+mn-lt"/>
                <a:ea typeface="+mn-ea"/>
                <a:cs typeface="+mn-cs"/>
              </a:defRPr>
            </a:lvl4pPr>
            <a:lvl5pPr marL="1828800" indent="0" algn="ctr" eaLnBrk="1" hangingPunct="1">
              <a:buNone/>
              <a:defRPr sz="1600">
                <a:latin typeface="+mn-lt"/>
                <a:ea typeface="+mn-ea"/>
                <a:cs typeface="+mn-cs"/>
              </a:defRPr>
            </a:lvl5pPr>
            <a:lvl6pPr marL="2286000" indent="0" algn="ctr" eaLnBrk="1" hangingPunct="1">
              <a:buNone/>
              <a:defRPr sz="1600">
                <a:latin typeface="+mn-lt"/>
                <a:ea typeface="+mn-ea"/>
                <a:cs typeface="+mn-cs"/>
              </a:defRPr>
            </a:lvl6pPr>
            <a:lvl7pPr marL="2743200" indent="0" algn="ctr" eaLnBrk="1" hangingPunct="1">
              <a:buNone/>
              <a:defRPr sz="1600">
                <a:latin typeface="+mn-lt"/>
                <a:ea typeface="+mn-ea"/>
                <a:cs typeface="+mn-cs"/>
              </a:defRPr>
            </a:lvl7pPr>
            <a:lvl8pPr marL="3200400" indent="0" algn="ctr" eaLnBrk="1" hangingPunct="1">
              <a:buNone/>
              <a:defRPr sz="1600">
                <a:latin typeface="+mn-lt"/>
                <a:ea typeface="+mn-ea"/>
                <a:cs typeface="+mn-cs"/>
              </a:defRPr>
            </a:lvl8pPr>
            <a:lvl9pPr marL="3657600" indent="0" algn="ctr" eaLnBrk="1" hangingPunct="1">
              <a:buNone/>
              <a:defRPr sz="1600">
                <a:latin typeface="+mn-lt"/>
                <a:ea typeface="+mn-ea"/>
                <a:cs typeface="+mn-cs"/>
              </a:defRPr>
            </a:lvl9pPr>
          </a:lstStyle>
          <a:p>
            <a:pPr>
              <a:spcBef>
                <a:spcPts val="300"/>
              </a:spcBef>
            </a:pPr>
            <a:r>
              <a:rPr lang="uk-UA" sz="1500" dirty="0">
                <a:solidFill>
                  <a:srgbClr val="002060"/>
                </a:solidFill>
              </a:rPr>
              <a:t>Зміна паролю</a:t>
            </a:r>
          </a:p>
        </p:txBody>
      </p:sp>
      <p:pic>
        <p:nvPicPr>
          <p:cNvPr id="33" name="Рисунок 32">
            <a:extLst>
              <a:ext uri="{FF2B5EF4-FFF2-40B4-BE49-F238E27FC236}">
                <a16:creationId xmlns:a16="http://schemas.microsoft.com/office/drawing/2014/main" id="{EAC17500-E635-FC3D-187B-C4C5850718F7}"/>
              </a:ext>
            </a:extLst>
          </p:cNvPr>
          <p:cNvPicPr>
            <a:picLocks noChangeAspect="1"/>
          </p:cNvPicPr>
          <p:nvPr/>
        </p:nvPicPr>
        <p:blipFill>
          <a:blip r:embed="rId6"/>
          <a:srcRect t="10526" b="5614"/>
          <a:stretch>
            <a:fillRect/>
          </a:stretch>
        </p:blipFill>
        <p:spPr>
          <a:xfrm>
            <a:off x="9656096" y="2081681"/>
            <a:ext cx="1991386" cy="3616855"/>
          </a:xfrm>
          <a:prstGeom prst="rect">
            <a:avLst/>
          </a:prstGeom>
        </p:spPr>
      </p:pic>
      <p:sp>
        <p:nvSpPr>
          <p:cNvPr id="34" name="Підзаголовок 2">
            <a:extLst>
              <a:ext uri="{FF2B5EF4-FFF2-40B4-BE49-F238E27FC236}">
                <a16:creationId xmlns:a16="http://schemas.microsoft.com/office/drawing/2014/main" id="{B5320721-8E4D-1942-154E-F02F6DD85A9C}"/>
              </a:ext>
            </a:extLst>
          </p:cNvPr>
          <p:cNvSpPr txBox="1">
            <a:spLocks/>
          </p:cNvSpPr>
          <p:nvPr/>
        </p:nvSpPr>
        <p:spPr>
          <a:xfrm>
            <a:off x="9972310" y="5698536"/>
            <a:ext cx="1358957" cy="230832"/>
          </a:xfrm>
          <a:prstGeom prst="rect">
            <a:avLst/>
          </a:prstGeom>
        </p:spPr>
        <p:txBody>
          <a:bodyPr wrap="square" lIns="0" tIns="0" rIns="0" bIns="0">
            <a:spAutoFit/>
          </a:bodyPr>
          <a:lstStyle>
            <a:lvl1pPr marL="0" indent="0" algn="ctr" eaLnBrk="1" hangingPunct="1">
              <a:buNone/>
              <a:defRPr sz="2400" b="0" i="0">
                <a:solidFill>
                  <a:schemeClr val="bg1"/>
                </a:solidFill>
                <a:latin typeface="Calibri"/>
                <a:ea typeface="+mn-ea"/>
                <a:cs typeface="Calibri"/>
              </a:defRPr>
            </a:lvl1pPr>
            <a:lvl2pPr marL="457200" indent="0" algn="ctr" eaLnBrk="1" hangingPunct="1">
              <a:buNone/>
              <a:defRPr sz="2000">
                <a:latin typeface="+mn-lt"/>
                <a:ea typeface="+mn-ea"/>
                <a:cs typeface="+mn-cs"/>
              </a:defRPr>
            </a:lvl2pPr>
            <a:lvl3pPr marL="914400" indent="0" algn="ctr" eaLnBrk="1" hangingPunct="1">
              <a:buNone/>
              <a:defRPr sz="1800">
                <a:latin typeface="+mn-lt"/>
                <a:ea typeface="+mn-ea"/>
                <a:cs typeface="+mn-cs"/>
              </a:defRPr>
            </a:lvl3pPr>
            <a:lvl4pPr marL="1371600" indent="0" algn="ctr" eaLnBrk="1" hangingPunct="1">
              <a:buNone/>
              <a:defRPr sz="1600">
                <a:latin typeface="+mn-lt"/>
                <a:ea typeface="+mn-ea"/>
                <a:cs typeface="+mn-cs"/>
              </a:defRPr>
            </a:lvl4pPr>
            <a:lvl5pPr marL="1828800" indent="0" algn="ctr" eaLnBrk="1" hangingPunct="1">
              <a:buNone/>
              <a:defRPr sz="1600">
                <a:latin typeface="+mn-lt"/>
                <a:ea typeface="+mn-ea"/>
                <a:cs typeface="+mn-cs"/>
              </a:defRPr>
            </a:lvl5pPr>
            <a:lvl6pPr marL="2286000" indent="0" algn="ctr" eaLnBrk="1" hangingPunct="1">
              <a:buNone/>
              <a:defRPr sz="1600">
                <a:latin typeface="+mn-lt"/>
                <a:ea typeface="+mn-ea"/>
                <a:cs typeface="+mn-cs"/>
              </a:defRPr>
            </a:lvl6pPr>
            <a:lvl7pPr marL="2743200" indent="0" algn="ctr" eaLnBrk="1" hangingPunct="1">
              <a:buNone/>
              <a:defRPr sz="1600">
                <a:latin typeface="+mn-lt"/>
                <a:ea typeface="+mn-ea"/>
                <a:cs typeface="+mn-cs"/>
              </a:defRPr>
            </a:lvl7pPr>
            <a:lvl8pPr marL="3200400" indent="0" algn="ctr" eaLnBrk="1" hangingPunct="1">
              <a:buNone/>
              <a:defRPr sz="1600">
                <a:latin typeface="+mn-lt"/>
                <a:ea typeface="+mn-ea"/>
                <a:cs typeface="+mn-cs"/>
              </a:defRPr>
            </a:lvl8pPr>
            <a:lvl9pPr marL="3657600" indent="0" algn="ctr" eaLnBrk="1" hangingPunct="1">
              <a:buNone/>
              <a:defRPr sz="1600">
                <a:latin typeface="+mn-lt"/>
                <a:ea typeface="+mn-ea"/>
                <a:cs typeface="+mn-cs"/>
              </a:defRPr>
            </a:lvl9pPr>
          </a:lstStyle>
          <a:p>
            <a:pPr>
              <a:spcBef>
                <a:spcPts val="300"/>
              </a:spcBef>
            </a:pPr>
            <a:r>
              <a:rPr lang="uk-UA" sz="1500" dirty="0">
                <a:solidFill>
                  <a:srgbClr val="002060"/>
                </a:solidFill>
              </a:rPr>
              <a:t>Форма входу</a:t>
            </a:r>
          </a:p>
        </p:txBody>
      </p:sp>
    </p:spTree>
    <p:extLst>
      <p:ext uri="{BB962C8B-B14F-4D97-AF65-F5344CB8AC3E}">
        <p14:creationId xmlns:p14="http://schemas.microsoft.com/office/powerpoint/2010/main" val="2587563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04274" y="113416"/>
            <a:ext cx="12400547" cy="2769989"/>
          </a:xfrm>
        </p:spPr>
        <p:txBody>
          <a:bodyPr/>
          <a:lstStyle/>
          <a:p>
            <a:r>
              <a:rPr lang="uk-UA" dirty="0">
                <a:solidFill>
                  <a:srgbClr val="002060"/>
                </a:solidFill>
              </a:rPr>
              <a:t>Тестування та верифікація</a:t>
            </a:r>
            <a:br>
              <a:rPr lang="uk-UA" dirty="0">
                <a:solidFill>
                  <a:srgbClr val="002060"/>
                </a:solidFill>
              </a:rPr>
            </a:br>
            <a:endParaRPr lang="uk-UA" dirty="0"/>
          </a:p>
        </p:txBody>
      </p:sp>
      <p:sp>
        <p:nvSpPr>
          <p:cNvPr id="4" name="TextBox 3"/>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14/16</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8" name="Підзаголовок 2">
            <a:extLst>
              <a:ext uri="{FF2B5EF4-FFF2-40B4-BE49-F238E27FC236}">
                <a16:creationId xmlns:a16="http://schemas.microsoft.com/office/drawing/2014/main" id="{06BE96F1-862C-C50C-3E12-03FA7656C9EB}"/>
              </a:ext>
            </a:extLst>
          </p:cNvPr>
          <p:cNvSpPr>
            <a:spLocks noGrp="1"/>
          </p:cNvSpPr>
          <p:nvPr>
            <p:ph type="subTitle" idx="1"/>
          </p:nvPr>
        </p:nvSpPr>
        <p:spPr>
          <a:xfrm>
            <a:off x="268704" y="1887470"/>
            <a:ext cx="11654590" cy="4462760"/>
          </a:xfrm>
        </p:spPr>
        <p:txBody>
          <a:bodyPr/>
          <a:lstStyle/>
          <a:p>
            <a:pPr algn="just">
              <a:spcBef>
                <a:spcPts val="300"/>
              </a:spcBef>
            </a:pPr>
            <a:r>
              <a:rPr lang="uk-UA" sz="1500" dirty="0">
                <a:solidFill>
                  <a:srgbClr val="002060"/>
                </a:solidFill>
              </a:rPr>
              <a:t>Для перевірки якості та стабільності вебзастосунку «Теплоенергетик» було проведено тестування основних функцій системи.</a:t>
            </a:r>
          </a:p>
          <a:p>
            <a:pPr algn="just">
              <a:spcBef>
                <a:spcPts val="300"/>
              </a:spcBef>
            </a:pPr>
            <a:r>
              <a:rPr lang="uk-UA" sz="1500" b="1" dirty="0">
                <a:solidFill>
                  <a:srgbClr val="002060"/>
                </a:solidFill>
              </a:rPr>
              <a:t>Методи тестування</a:t>
            </a:r>
          </a:p>
          <a:p>
            <a:pPr algn="just">
              <a:spcBef>
                <a:spcPts val="300"/>
              </a:spcBef>
            </a:pPr>
            <a:r>
              <a:rPr lang="uk-UA" sz="1500" b="1" dirty="0">
                <a:solidFill>
                  <a:srgbClr val="002060"/>
                </a:solidFill>
              </a:rPr>
              <a:t>Функціональне тестування: </a:t>
            </a:r>
            <a:r>
              <a:rPr lang="uk-UA" sz="1500" dirty="0">
                <a:solidFill>
                  <a:srgbClr val="002060"/>
                </a:solidFill>
              </a:rPr>
              <a:t>Перевірялася робота основних можливостей сайту: реєстрація, авторизація, відновлення пароля, зміна профілю, виконання розрахунків, збереження історії, створення проєктів, додавання нотаток і розрахунків, а також експорт даних.</a:t>
            </a:r>
          </a:p>
          <a:p>
            <a:pPr algn="just">
              <a:spcBef>
                <a:spcPts val="300"/>
              </a:spcBef>
            </a:pPr>
            <a:r>
              <a:rPr lang="uk-UA" sz="1500" b="1" dirty="0">
                <a:solidFill>
                  <a:srgbClr val="002060"/>
                </a:solidFill>
              </a:rPr>
              <a:t>Інтеграційне тестування: </a:t>
            </a:r>
            <a:r>
              <a:rPr lang="uk-UA" sz="1500" dirty="0">
                <a:solidFill>
                  <a:srgbClr val="002060"/>
                </a:solidFill>
              </a:rPr>
              <a:t>Перевірялася взаємодія клієнтської частини з </a:t>
            </a:r>
            <a:r>
              <a:rPr lang="en-US" sz="1500" dirty="0" err="1">
                <a:solidFill>
                  <a:srgbClr val="002060"/>
                </a:solidFill>
              </a:rPr>
              <a:t>Supabase</a:t>
            </a:r>
            <a:r>
              <a:rPr lang="en-US" sz="1500" dirty="0">
                <a:solidFill>
                  <a:srgbClr val="002060"/>
                </a:solidFill>
              </a:rPr>
              <a:t> Auth </a:t>
            </a:r>
            <a:r>
              <a:rPr lang="uk-UA" sz="1500" dirty="0">
                <a:solidFill>
                  <a:srgbClr val="002060"/>
                </a:solidFill>
              </a:rPr>
              <a:t>і </a:t>
            </a:r>
            <a:r>
              <a:rPr lang="en-US" sz="1500" dirty="0" err="1">
                <a:solidFill>
                  <a:srgbClr val="002060"/>
                </a:solidFill>
              </a:rPr>
              <a:t>Supabase</a:t>
            </a:r>
            <a:r>
              <a:rPr lang="en-US" sz="1500" dirty="0">
                <a:solidFill>
                  <a:srgbClr val="002060"/>
                </a:solidFill>
              </a:rPr>
              <a:t> Database. </a:t>
            </a:r>
            <a:r>
              <a:rPr lang="uk-UA" sz="1500" dirty="0">
                <a:solidFill>
                  <a:srgbClr val="002060"/>
                </a:solidFill>
              </a:rPr>
              <a:t>Окремо тестувалося збереження профілю, записів історії, проєктів та елементів проєкту.</a:t>
            </a:r>
          </a:p>
          <a:p>
            <a:pPr algn="just">
              <a:spcBef>
                <a:spcPts val="300"/>
              </a:spcBef>
            </a:pPr>
            <a:r>
              <a:rPr lang="uk-UA" sz="1500" b="1" dirty="0">
                <a:solidFill>
                  <a:srgbClr val="002060"/>
                </a:solidFill>
              </a:rPr>
              <a:t>Тестування інтерфейсу: </a:t>
            </a:r>
            <a:r>
              <a:rPr lang="uk-UA" sz="1500" dirty="0">
                <a:solidFill>
                  <a:srgbClr val="002060"/>
                </a:solidFill>
              </a:rPr>
              <a:t>Було перевірено коректність відображення сторінок, роботу кнопок, форм, модальних вікон, темної та світлої теми, адаптивність на комп’ютері й мобільному пристрої.</a:t>
            </a:r>
          </a:p>
          <a:p>
            <a:pPr algn="just">
              <a:spcBef>
                <a:spcPts val="300"/>
              </a:spcBef>
            </a:pPr>
            <a:r>
              <a:rPr lang="uk-UA" sz="1500" b="1" dirty="0">
                <a:solidFill>
                  <a:srgbClr val="002060"/>
                </a:solidFill>
              </a:rPr>
              <a:t>Результати тестування</a:t>
            </a:r>
          </a:p>
          <a:p>
            <a:pPr algn="just">
              <a:spcBef>
                <a:spcPts val="300"/>
              </a:spcBef>
            </a:pPr>
            <a:r>
              <a:rPr lang="uk-UA" sz="1500" dirty="0">
                <a:solidFill>
                  <a:srgbClr val="002060"/>
                </a:solidFill>
              </a:rPr>
              <a:t>У результаті тестування було підтверджено, що основні функції застосунку працюють коректно. Користувач може зареєструватися, увійти в систему, виконувати розрахунки, зберігати їх в історії, створювати проєкти та експортувати дані у потрібних форматах. Також було перевірено роботу адміністративної панелі та повне видалення акаунта через </a:t>
            </a:r>
            <a:r>
              <a:rPr lang="en-US" sz="1500" dirty="0" err="1">
                <a:solidFill>
                  <a:srgbClr val="002060"/>
                </a:solidFill>
              </a:rPr>
              <a:t>Supabase</a:t>
            </a:r>
            <a:r>
              <a:rPr lang="en-US" sz="1500" dirty="0">
                <a:solidFill>
                  <a:srgbClr val="002060"/>
                </a:solidFill>
              </a:rPr>
              <a:t> Edge Function.</a:t>
            </a:r>
            <a:endParaRPr lang="uk-UA" sz="1500" dirty="0">
              <a:solidFill>
                <a:srgbClr val="002060"/>
              </a:solidFill>
            </a:endParaRPr>
          </a:p>
          <a:p>
            <a:pPr algn="just">
              <a:spcBef>
                <a:spcPts val="300"/>
              </a:spcBef>
            </a:pPr>
            <a:r>
              <a:rPr lang="uk-UA" sz="1500" b="1" dirty="0">
                <a:solidFill>
                  <a:srgbClr val="002060"/>
                </a:solidFill>
              </a:rPr>
              <a:t>Оцінка якості та надійності системи: </a:t>
            </a:r>
            <a:r>
              <a:rPr lang="uk-UA" sz="1500" dirty="0">
                <a:solidFill>
                  <a:srgbClr val="002060"/>
                </a:solidFill>
              </a:rPr>
              <a:t>Якість системи підтверджується стабільною роботою основних модулів, зрозумілим інтерфейсом і наявністю повідомлень про помилки українською мовою. Надійність забезпечується збереженням даних у </a:t>
            </a:r>
            <a:r>
              <a:rPr lang="en-US" sz="1500" dirty="0" err="1">
                <a:solidFill>
                  <a:srgbClr val="002060"/>
                </a:solidFill>
              </a:rPr>
              <a:t>Supabase</a:t>
            </a:r>
            <a:r>
              <a:rPr lang="en-US" sz="1500" dirty="0">
                <a:solidFill>
                  <a:srgbClr val="002060"/>
                </a:solidFill>
              </a:rPr>
              <a:t> Database, </a:t>
            </a:r>
            <a:r>
              <a:rPr lang="uk-UA" sz="1500" dirty="0">
                <a:solidFill>
                  <a:srgbClr val="002060"/>
                </a:solidFill>
              </a:rPr>
              <a:t>авторизацією через </a:t>
            </a:r>
            <a:r>
              <a:rPr lang="en-US" sz="1500" dirty="0" err="1">
                <a:solidFill>
                  <a:srgbClr val="002060"/>
                </a:solidFill>
              </a:rPr>
              <a:t>Supabase</a:t>
            </a:r>
            <a:r>
              <a:rPr lang="en-US" sz="1500" dirty="0">
                <a:solidFill>
                  <a:srgbClr val="002060"/>
                </a:solidFill>
              </a:rPr>
              <a:t> Auth </a:t>
            </a:r>
            <a:r>
              <a:rPr lang="uk-UA" sz="1500" dirty="0">
                <a:solidFill>
                  <a:srgbClr val="002060"/>
                </a:solidFill>
              </a:rPr>
              <a:t>та захистом даних користувачів за допомогою </a:t>
            </a:r>
            <a:r>
              <a:rPr lang="en-US" sz="1500" dirty="0">
                <a:solidFill>
                  <a:srgbClr val="002060"/>
                </a:solidFill>
              </a:rPr>
              <a:t>Row Level Security.</a:t>
            </a:r>
            <a:endParaRPr lang="uk-UA" sz="1500" dirty="0">
              <a:solidFill>
                <a:srgbClr val="002060"/>
              </a:solidFill>
            </a:endParaRPr>
          </a:p>
          <a:p>
            <a:pPr algn="just">
              <a:spcBef>
                <a:spcPts val="300"/>
              </a:spcBef>
            </a:pPr>
            <a:r>
              <a:rPr lang="uk-UA" sz="1500" b="1" dirty="0">
                <a:solidFill>
                  <a:srgbClr val="002060"/>
                </a:solidFill>
              </a:rPr>
              <a:t>Порівняння з аналогами: </a:t>
            </a:r>
            <a:r>
              <a:rPr lang="uk-UA" sz="1500" dirty="0">
                <a:solidFill>
                  <a:srgbClr val="002060"/>
                </a:solidFill>
              </a:rPr>
              <a:t>Порівняно зі звичайними онлайн-калькуляторами, система «Теплоенергетик» має ширший функціонал: підтримує особистий кабінет, історію розрахунків, проєкти, довідник, графіки та експорт даних. На відміну від </a:t>
            </a:r>
            <a:r>
              <a:rPr lang="en-US" sz="1500" dirty="0">
                <a:solidFill>
                  <a:srgbClr val="002060"/>
                </a:solidFill>
              </a:rPr>
              <a:t>Excel </a:t>
            </a:r>
            <a:r>
              <a:rPr lang="uk-UA" sz="1500" dirty="0">
                <a:solidFill>
                  <a:srgbClr val="002060"/>
                </a:solidFill>
              </a:rPr>
              <a:t>або </a:t>
            </a:r>
            <a:r>
              <a:rPr lang="en-US" sz="1500" dirty="0">
                <a:solidFill>
                  <a:srgbClr val="002060"/>
                </a:solidFill>
              </a:rPr>
              <a:t>Google Sheets, </a:t>
            </a:r>
            <a:r>
              <a:rPr lang="uk-UA" sz="1500" dirty="0">
                <a:solidFill>
                  <a:srgbClr val="002060"/>
                </a:solidFill>
              </a:rPr>
              <a:t>користувачу не потрібно самостійно створювати формули й структуру таблиць, оскільки основні розрахункові модулі вже реалізовані в системі.</a:t>
            </a:r>
          </a:p>
        </p:txBody>
      </p:sp>
    </p:spTree>
    <p:extLst>
      <p:ext uri="{BB962C8B-B14F-4D97-AF65-F5344CB8AC3E}">
        <p14:creationId xmlns:p14="http://schemas.microsoft.com/office/powerpoint/2010/main" val="2076628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45694" y="112499"/>
            <a:ext cx="10900611" cy="2769989"/>
          </a:xfrm>
        </p:spPr>
        <p:txBody>
          <a:bodyPr/>
          <a:lstStyle/>
          <a:p>
            <a:r>
              <a:rPr lang="uk-UA" dirty="0">
                <a:solidFill>
                  <a:srgbClr val="002060"/>
                </a:solidFill>
              </a:rPr>
              <a:t>Впровадження та супровід</a:t>
            </a:r>
            <a:br>
              <a:rPr lang="uk-UA" dirty="0">
                <a:solidFill>
                  <a:srgbClr val="002060"/>
                </a:solidFill>
              </a:rPr>
            </a:br>
            <a:endParaRPr lang="uk-UA" dirty="0"/>
          </a:p>
        </p:txBody>
      </p:sp>
      <p:sp>
        <p:nvSpPr>
          <p:cNvPr id="4" name="TextBox 3"/>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15/16</a:t>
            </a:r>
          </a:p>
        </p:txBody>
      </p:sp>
      <p:sp>
        <p:nvSpPr>
          <p:cNvPr id="5" name="TextBox 4"/>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8" name="Підзаголовок 2">
            <a:extLst>
              <a:ext uri="{FF2B5EF4-FFF2-40B4-BE49-F238E27FC236}">
                <a16:creationId xmlns:a16="http://schemas.microsoft.com/office/drawing/2014/main" id="{E48A6584-EF00-E735-0F17-87F0777C9907}"/>
              </a:ext>
            </a:extLst>
          </p:cNvPr>
          <p:cNvSpPr>
            <a:spLocks noGrp="1"/>
          </p:cNvSpPr>
          <p:nvPr>
            <p:ph type="subTitle" idx="1"/>
          </p:nvPr>
        </p:nvSpPr>
        <p:spPr>
          <a:xfrm>
            <a:off x="268705" y="1946534"/>
            <a:ext cx="11654590" cy="4362733"/>
          </a:xfrm>
        </p:spPr>
        <p:txBody>
          <a:bodyPr/>
          <a:lstStyle/>
          <a:p>
            <a:pPr algn="just">
              <a:spcBef>
                <a:spcPts val="300"/>
              </a:spcBef>
            </a:pPr>
            <a:r>
              <a:rPr lang="uk-UA" sz="1400" b="1" dirty="0">
                <a:solidFill>
                  <a:srgbClr val="002060"/>
                </a:solidFill>
              </a:rPr>
              <a:t>Процес розгортання системи</a:t>
            </a:r>
          </a:p>
          <a:p>
            <a:pPr algn="just">
              <a:spcBef>
                <a:spcPts val="300"/>
              </a:spcBef>
            </a:pPr>
            <a:r>
              <a:rPr lang="uk-UA" sz="1400" dirty="0">
                <a:solidFill>
                  <a:srgbClr val="002060"/>
                </a:solidFill>
              </a:rPr>
              <a:t>Розгортання вебзастосунку «Теплоенергетик» виконується у кілька етапів:</a:t>
            </a:r>
          </a:p>
          <a:p>
            <a:pPr marL="285750" indent="-285750" algn="just">
              <a:buFont typeface="Arial" panose="020B0604020202020204" pitchFamily="34" charset="0"/>
              <a:buChar char="•"/>
            </a:pPr>
            <a:r>
              <a:rPr lang="uk-UA" sz="1400" b="1" dirty="0">
                <a:solidFill>
                  <a:srgbClr val="002060"/>
                </a:solidFill>
              </a:rPr>
              <a:t>Завантаження проєкту на </a:t>
            </a:r>
            <a:r>
              <a:rPr lang="en-US" sz="1400" b="1" dirty="0">
                <a:solidFill>
                  <a:srgbClr val="002060"/>
                </a:solidFill>
              </a:rPr>
              <a:t>GitHub: </a:t>
            </a:r>
            <a:r>
              <a:rPr lang="uk-UA" sz="1400" dirty="0">
                <a:solidFill>
                  <a:srgbClr val="002060"/>
                </a:solidFill>
              </a:rPr>
              <a:t>усі </a:t>
            </a:r>
            <a:r>
              <a:rPr lang="en-US" sz="1400" dirty="0">
                <a:solidFill>
                  <a:srgbClr val="002060"/>
                </a:solidFill>
              </a:rPr>
              <a:t>HTML, CSS, JavaScript-</a:t>
            </a:r>
            <a:r>
              <a:rPr lang="uk-UA" sz="1400" dirty="0">
                <a:solidFill>
                  <a:srgbClr val="002060"/>
                </a:solidFill>
              </a:rPr>
              <a:t>файли та ресурси сайту розміщуються в </a:t>
            </a:r>
            <a:r>
              <a:rPr lang="en-US" sz="1400" dirty="0">
                <a:solidFill>
                  <a:srgbClr val="002060"/>
                </a:solidFill>
              </a:rPr>
              <a:t>GitHub-</a:t>
            </a:r>
            <a:r>
              <a:rPr lang="uk-UA" sz="1400" dirty="0">
                <a:solidFill>
                  <a:srgbClr val="002060"/>
                </a:solidFill>
              </a:rPr>
              <a:t>репозиторії.</a:t>
            </a:r>
          </a:p>
          <a:p>
            <a:pPr marL="285750" indent="-285750" algn="just">
              <a:buFont typeface="Arial" panose="020B0604020202020204" pitchFamily="34" charset="0"/>
              <a:buChar char="•"/>
            </a:pPr>
            <a:r>
              <a:rPr lang="uk-UA" sz="1400" b="1" dirty="0">
                <a:solidFill>
                  <a:srgbClr val="002060"/>
                </a:solidFill>
              </a:rPr>
              <a:t>Налаштування </a:t>
            </a:r>
            <a:r>
              <a:rPr lang="en-US" sz="1400" b="1" dirty="0">
                <a:solidFill>
                  <a:srgbClr val="002060"/>
                </a:solidFill>
              </a:rPr>
              <a:t>GitHub Pages: </a:t>
            </a:r>
            <a:r>
              <a:rPr lang="uk-UA" sz="1400" dirty="0">
                <a:solidFill>
                  <a:srgbClr val="002060"/>
                </a:solidFill>
              </a:rPr>
              <a:t>для публікації сайту використовується </a:t>
            </a:r>
            <a:r>
              <a:rPr lang="en-US" sz="1400" dirty="0">
                <a:solidFill>
                  <a:srgbClr val="002060"/>
                </a:solidFill>
              </a:rPr>
              <a:t>GitHub Pages, </a:t>
            </a:r>
            <a:r>
              <a:rPr lang="uk-UA" sz="1400" dirty="0">
                <a:solidFill>
                  <a:srgbClr val="002060"/>
                </a:solidFill>
              </a:rPr>
              <a:t>що дозволяє відкрити вебзастосунок за посиланням без окремого хостингу.</a:t>
            </a:r>
          </a:p>
          <a:p>
            <a:pPr marL="285750" indent="-285750" algn="just">
              <a:buFont typeface="Arial" panose="020B0604020202020204" pitchFamily="34" charset="0"/>
              <a:buChar char="•"/>
            </a:pPr>
            <a:r>
              <a:rPr lang="uk-UA" sz="1400" b="1" dirty="0">
                <a:solidFill>
                  <a:srgbClr val="002060"/>
                </a:solidFill>
              </a:rPr>
              <a:t>Налаштування </a:t>
            </a:r>
            <a:r>
              <a:rPr lang="en-US" sz="1400" b="1" dirty="0" err="1">
                <a:solidFill>
                  <a:srgbClr val="002060"/>
                </a:solidFill>
              </a:rPr>
              <a:t>Supabase</a:t>
            </a:r>
            <a:r>
              <a:rPr lang="en-US" sz="1400" b="1" dirty="0">
                <a:solidFill>
                  <a:srgbClr val="002060"/>
                </a:solidFill>
              </a:rPr>
              <a:t>:</a:t>
            </a:r>
            <a:r>
              <a:rPr lang="en-US" sz="1400" dirty="0">
                <a:solidFill>
                  <a:srgbClr val="002060"/>
                </a:solidFill>
              </a:rPr>
              <a:t> </a:t>
            </a:r>
            <a:r>
              <a:rPr lang="uk-UA" sz="1400" dirty="0">
                <a:solidFill>
                  <a:srgbClr val="002060"/>
                </a:solidFill>
              </a:rPr>
              <a:t>у </a:t>
            </a:r>
            <a:r>
              <a:rPr lang="en-US" sz="1400" dirty="0" err="1">
                <a:solidFill>
                  <a:srgbClr val="002060"/>
                </a:solidFill>
              </a:rPr>
              <a:t>Supabase</a:t>
            </a:r>
            <a:r>
              <a:rPr lang="en-US" sz="1400" dirty="0">
                <a:solidFill>
                  <a:srgbClr val="002060"/>
                </a:solidFill>
              </a:rPr>
              <a:t> </a:t>
            </a:r>
            <a:r>
              <a:rPr lang="uk-UA" sz="1400" dirty="0">
                <a:solidFill>
                  <a:srgbClr val="002060"/>
                </a:solidFill>
              </a:rPr>
              <a:t>створюються таблиці для профілів, розрахунків, проєктів і елементів проєктів, а також налаштовується авторизація користувачів. </a:t>
            </a:r>
          </a:p>
          <a:p>
            <a:pPr marL="285750" indent="-285750" algn="just">
              <a:buFont typeface="Arial" panose="020B0604020202020204" pitchFamily="34" charset="0"/>
              <a:buChar char="•"/>
            </a:pPr>
            <a:r>
              <a:rPr lang="uk-UA" sz="1400" b="1" dirty="0">
                <a:solidFill>
                  <a:srgbClr val="002060"/>
                </a:solidFill>
              </a:rPr>
              <a:t>Налаштування безпеки: </a:t>
            </a:r>
            <a:r>
              <a:rPr lang="uk-UA" sz="1400" dirty="0">
                <a:solidFill>
                  <a:srgbClr val="002060"/>
                </a:solidFill>
              </a:rPr>
              <a:t>для захисту даних використовується </a:t>
            </a:r>
            <a:r>
              <a:rPr lang="en-US" sz="1400" dirty="0">
                <a:solidFill>
                  <a:srgbClr val="002060"/>
                </a:solidFill>
              </a:rPr>
              <a:t>Row Level Security, </a:t>
            </a:r>
            <a:r>
              <a:rPr lang="uk-UA" sz="1400" dirty="0">
                <a:solidFill>
                  <a:srgbClr val="002060"/>
                </a:solidFill>
              </a:rPr>
              <a:t>щоб користувачі мали доступ лише до власної інформації.</a:t>
            </a:r>
          </a:p>
          <a:p>
            <a:pPr marL="285750" indent="-285750" algn="just">
              <a:buFont typeface="Arial" panose="020B0604020202020204" pitchFamily="34" charset="0"/>
              <a:buChar char="•"/>
            </a:pPr>
            <a:r>
              <a:rPr lang="uk-UA" sz="1400" b="1" dirty="0">
                <a:solidFill>
                  <a:srgbClr val="002060"/>
                </a:solidFill>
              </a:rPr>
              <a:t>Розгортання </a:t>
            </a:r>
            <a:r>
              <a:rPr lang="en-US" sz="1400" b="1" dirty="0" err="1">
                <a:solidFill>
                  <a:srgbClr val="002060"/>
                </a:solidFill>
              </a:rPr>
              <a:t>Supabase</a:t>
            </a:r>
            <a:r>
              <a:rPr lang="en-US" sz="1400" b="1" dirty="0">
                <a:solidFill>
                  <a:srgbClr val="002060"/>
                </a:solidFill>
              </a:rPr>
              <a:t> Edge Function: </a:t>
            </a:r>
            <a:r>
              <a:rPr lang="uk-UA" sz="1400" dirty="0">
                <a:solidFill>
                  <a:srgbClr val="002060"/>
                </a:solidFill>
              </a:rPr>
              <a:t>окремо налаштовується серверна функція для повного видалення акаунта користувача.</a:t>
            </a:r>
          </a:p>
          <a:p>
            <a:pPr marL="285750" indent="-285750" algn="just">
              <a:spcBef>
                <a:spcPts val="300"/>
              </a:spcBef>
              <a:buFont typeface="Arial" panose="020B0604020202020204" pitchFamily="34" charset="0"/>
              <a:buChar char="•"/>
            </a:pPr>
            <a:r>
              <a:rPr lang="uk-UA" sz="1400" b="1" dirty="0">
                <a:solidFill>
                  <a:srgbClr val="002060"/>
                </a:solidFill>
              </a:rPr>
              <a:t>Перевірка роботи сайту: </a:t>
            </a:r>
            <a:r>
              <a:rPr lang="uk-UA" sz="1400" dirty="0">
                <a:solidFill>
                  <a:srgbClr val="002060"/>
                </a:solidFill>
              </a:rPr>
              <a:t>після розгортання перевіряються реєстрація, вхід, розрахунки, журнал, проєкти, експорт файлів і робота з профілем.</a:t>
            </a:r>
          </a:p>
          <a:p>
            <a:pPr algn="just">
              <a:spcBef>
                <a:spcPts val="300"/>
              </a:spcBef>
            </a:pPr>
            <a:r>
              <a:rPr lang="uk-UA" sz="1400" b="1" dirty="0">
                <a:solidFill>
                  <a:srgbClr val="002060"/>
                </a:solidFill>
              </a:rPr>
              <a:t>Документація для користувачів та розробників</a:t>
            </a:r>
          </a:p>
          <a:p>
            <a:pPr algn="just">
              <a:spcBef>
                <a:spcPts val="300"/>
              </a:spcBef>
            </a:pPr>
            <a:r>
              <a:rPr lang="uk-UA" sz="1400" dirty="0">
                <a:solidFill>
                  <a:srgbClr val="002060"/>
                </a:solidFill>
              </a:rPr>
              <a:t>Для користувачів передбачено опис основних можливостей системи: реєстрація, авторизація, виконання розрахунків, збереження історії, створення проєктів, робота з довідником та експорт результатів.</a:t>
            </a:r>
          </a:p>
          <a:p>
            <a:pPr algn="just">
              <a:spcBef>
                <a:spcPts val="300"/>
              </a:spcBef>
            </a:pPr>
            <a:r>
              <a:rPr lang="uk-UA" sz="1400" dirty="0">
                <a:solidFill>
                  <a:srgbClr val="002060"/>
                </a:solidFill>
              </a:rPr>
              <a:t>Для розробників документація містить структуру проєкту, опис основних </a:t>
            </a:r>
            <a:r>
              <a:rPr lang="en-US" sz="1400" dirty="0">
                <a:solidFill>
                  <a:srgbClr val="002060"/>
                </a:solidFill>
              </a:rPr>
              <a:t>HTML, CSS </a:t>
            </a:r>
            <a:r>
              <a:rPr lang="uk-UA" sz="1400" dirty="0">
                <a:solidFill>
                  <a:srgbClr val="002060"/>
                </a:solidFill>
              </a:rPr>
              <a:t>і </a:t>
            </a:r>
            <a:r>
              <a:rPr lang="en-US" sz="1400" dirty="0">
                <a:solidFill>
                  <a:srgbClr val="002060"/>
                </a:solidFill>
              </a:rPr>
              <a:t>JavaScript-</a:t>
            </a:r>
            <a:r>
              <a:rPr lang="uk-UA" sz="1400" dirty="0">
                <a:solidFill>
                  <a:srgbClr val="002060"/>
                </a:solidFill>
              </a:rPr>
              <a:t>файлів, схему бази даних </a:t>
            </a:r>
            <a:r>
              <a:rPr lang="en-US" sz="1400" dirty="0" err="1">
                <a:solidFill>
                  <a:srgbClr val="002060"/>
                </a:solidFill>
              </a:rPr>
              <a:t>Supabase</a:t>
            </a:r>
            <a:r>
              <a:rPr lang="en-US" sz="1400" dirty="0">
                <a:solidFill>
                  <a:srgbClr val="002060"/>
                </a:solidFill>
              </a:rPr>
              <a:t>, SQL-</a:t>
            </a:r>
            <a:r>
              <a:rPr lang="uk-UA" sz="1400" dirty="0">
                <a:solidFill>
                  <a:srgbClr val="002060"/>
                </a:solidFill>
              </a:rPr>
              <a:t>запити для створення таблиць та код </a:t>
            </a:r>
            <a:r>
              <a:rPr lang="en-US" sz="1400" dirty="0">
                <a:solidFill>
                  <a:srgbClr val="002060"/>
                </a:solidFill>
              </a:rPr>
              <a:t>Edge Function </a:t>
            </a:r>
            <a:r>
              <a:rPr lang="uk-UA" sz="1400" dirty="0">
                <a:solidFill>
                  <a:srgbClr val="002060"/>
                </a:solidFill>
              </a:rPr>
              <a:t>для видалення акаунта.</a:t>
            </a:r>
          </a:p>
          <a:p>
            <a:pPr algn="just">
              <a:spcBef>
                <a:spcPts val="300"/>
              </a:spcBef>
            </a:pPr>
            <a:r>
              <a:rPr lang="uk-UA" sz="1400" b="1" dirty="0">
                <a:solidFill>
                  <a:srgbClr val="002060"/>
                </a:solidFill>
              </a:rPr>
              <a:t>Подальший супровід системи</a:t>
            </a:r>
          </a:p>
          <a:p>
            <a:pPr algn="just">
              <a:spcBef>
                <a:spcPts val="300"/>
              </a:spcBef>
            </a:pPr>
            <a:r>
              <a:rPr lang="uk-UA" sz="1400" dirty="0">
                <a:solidFill>
                  <a:srgbClr val="002060"/>
                </a:solidFill>
              </a:rPr>
              <a:t>Подальший розвиток системи може передбачати додавання нових теплоенергетичних формул, розширення довідника, покращення експорту файлів і вдосконалення інтерфейсу. Також важливо періодично перевіряти роботу авторизації, бази даних, правил доступу та сумісність сайту з сучасними браузерами.</a:t>
            </a:r>
          </a:p>
        </p:txBody>
      </p:sp>
    </p:spTree>
    <p:extLst>
      <p:ext uri="{BB962C8B-B14F-4D97-AF65-F5344CB8AC3E}">
        <p14:creationId xmlns:p14="http://schemas.microsoft.com/office/powerpoint/2010/main" val="779273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085788"/>
            <a:ext cx="9144000" cy="1846659"/>
          </a:xfrm>
        </p:spPr>
        <p:txBody>
          <a:bodyPr/>
          <a:lstStyle/>
          <a:p>
            <a:r>
              <a:rPr lang="uk-UA" dirty="0">
                <a:solidFill>
                  <a:srgbClr val="002060"/>
                </a:solidFill>
              </a:rPr>
              <a:t>Висновки</a:t>
            </a:r>
            <a:br>
              <a:rPr lang="uk-UA" dirty="0">
                <a:solidFill>
                  <a:srgbClr val="002060"/>
                </a:solidFill>
              </a:rPr>
            </a:br>
            <a:endParaRPr lang="uk-UA" dirty="0"/>
          </a:p>
        </p:txBody>
      </p:sp>
      <p:sp>
        <p:nvSpPr>
          <p:cNvPr id="4" name="TextBox 3"/>
          <p:cNvSpPr txBox="1"/>
          <p:nvPr/>
        </p:nvSpPr>
        <p:spPr>
          <a:xfrm>
            <a:off x="11158330" y="6350230"/>
            <a:ext cx="1007166" cy="461665"/>
          </a:xfrm>
          <a:prstGeom prst="rect">
            <a:avLst/>
          </a:prstGeom>
          <a:noFill/>
        </p:spPr>
        <p:txBody>
          <a:bodyPr wrap="square" rtlCol="0">
            <a:spAutoFit/>
          </a:bodyPr>
          <a:lstStyle/>
          <a:p>
            <a:pPr algn="r"/>
            <a:r>
              <a:rPr lang="uk-UA" sz="2400" dirty="0">
                <a:solidFill>
                  <a:schemeClr val="bg1"/>
                </a:solidFill>
              </a:rPr>
              <a:t>16/16</a:t>
            </a:r>
          </a:p>
        </p:txBody>
      </p:sp>
      <p:sp>
        <p:nvSpPr>
          <p:cNvPr id="7" name="TextBox 6"/>
          <p:cNvSpPr txBox="1"/>
          <p:nvPr/>
        </p:nvSpPr>
        <p:spPr>
          <a:xfrm>
            <a:off x="940525" y="54913"/>
            <a:ext cx="6165470" cy="923330"/>
          </a:xfrm>
          <a:prstGeom prst="rect">
            <a:avLst/>
          </a:prstGeom>
          <a:noFill/>
        </p:spPr>
        <p:txBody>
          <a:bodyPr wrap="none" rtlCol="0">
            <a:spAutoFit/>
          </a:bodyPr>
          <a:lstStyle/>
          <a:p>
            <a:r>
              <a:rPr lang="uk-UA" dirty="0">
                <a:solidFill>
                  <a:schemeClr val="bg1"/>
                </a:solidFill>
              </a:rPr>
              <a:t>НАЦІОНАЛЬНИЙ ТЕХНІЧНИЙ УНІВЕРСИТЕТ УКРАЇНИ</a:t>
            </a:r>
          </a:p>
          <a:p>
            <a:r>
              <a:rPr lang="uk-UA" dirty="0">
                <a:solidFill>
                  <a:schemeClr val="bg1"/>
                </a:solidFill>
              </a:rPr>
              <a:t>«КИЇВСЬКИЙ ПОЛІТЕХНІЧНИЙ ІНСТИТУТ</a:t>
            </a:r>
          </a:p>
          <a:p>
            <a:r>
              <a:rPr lang="uk-UA" dirty="0">
                <a:solidFill>
                  <a:schemeClr val="bg1"/>
                </a:solidFill>
              </a:rPr>
              <a:t>імені ІГОРЯ СІКОРСЬКОГО»</a:t>
            </a:r>
          </a:p>
        </p:txBody>
      </p:sp>
      <p:sp>
        <p:nvSpPr>
          <p:cNvPr id="8" name="Підзаголовок 2">
            <a:extLst>
              <a:ext uri="{FF2B5EF4-FFF2-40B4-BE49-F238E27FC236}">
                <a16:creationId xmlns:a16="http://schemas.microsoft.com/office/drawing/2014/main" id="{CC07E5AD-53BE-C422-B45A-BB4771CE4894}"/>
              </a:ext>
            </a:extLst>
          </p:cNvPr>
          <p:cNvSpPr>
            <a:spLocks noGrp="1"/>
          </p:cNvSpPr>
          <p:nvPr>
            <p:ph type="subTitle" idx="1"/>
          </p:nvPr>
        </p:nvSpPr>
        <p:spPr>
          <a:xfrm>
            <a:off x="268705" y="1946534"/>
            <a:ext cx="11654590" cy="3847207"/>
          </a:xfrm>
        </p:spPr>
        <p:txBody>
          <a:bodyPr/>
          <a:lstStyle/>
          <a:p>
            <a:pPr algn="just">
              <a:spcBef>
                <a:spcPts val="300"/>
              </a:spcBef>
            </a:pPr>
            <a:r>
              <a:rPr lang="uk-UA" sz="1500" dirty="0">
                <a:solidFill>
                  <a:srgbClr val="002060"/>
                </a:solidFill>
              </a:rPr>
              <a:t>У ході виконання курсової роботи було розроблено вебзастосунок «Теплоенергетик», призначений для виконання теплоенергетичних розрахунків, збереження результатів, створення проєктів і роботи з довідковими матеріалами. Система реалізована з використанням </a:t>
            </a:r>
            <a:r>
              <a:rPr lang="en-US" sz="1500" dirty="0">
                <a:solidFill>
                  <a:srgbClr val="002060"/>
                </a:solidFill>
              </a:rPr>
              <a:t>JavaScript, HTML, CSS, Bootstrap, </a:t>
            </a:r>
            <a:r>
              <a:rPr lang="en-US" sz="1500" dirty="0" err="1">
                <a:solidFill>
                  <a:srgbClr val="002060"/>
                </a:solidFill>
              </a:rPr>
              <a:t>Supabase</a:t>
            </a:r>
            <a:r>
              <a:rPr lang="en-US" sz="1500" dirty="0">
                <a:solidFill>
                  <a:srgbClr val="002060"/>
                </a:solidFill>
              </a:rPr>
              <a:t> </a:t>
            </a:r>
            <a:r>
              <a:rPr lang="uk-UA" sz="1500" dirty="0">
                <a:solidFill>
                  <a:srgbClr val="002060"/>
                </a:solidFill>
              </a:rPr>
              <a:t>та бібліотек для побудови графіків і експорту файлів.</a:t>
            </a:r>
          </a:p>
          <a:p>
            <a:pPr algn="just">
              <a:spcBef>
                <a:spcPts val="300"/>
              </a:spcBef>
            </a:pPr>
            <a:r>
              <a:rPr lang="uk-UA" sz="1500" dirty="0">
                <a:solidFill>
                  <a:srgbClr val="002060"/>
                </a:solidFill>
              </a:rPr>
              <a:t>У результаті роботи було створено застосунок, який містить калькулятори для теплоенергетичних розрахунків, журнал історії, профіль користувача, систему авторизації, довідник, проєкти, адміністративну панель та експорт даних у </a:t>
            </a:r>
            <a:r>
              <a:rPr lang="en-US" sz="1500" dirty="0">
                <a:solidFill>
                  <a:srgbClr val="002060"/>
                </a:solidFill>
              </a:rPr>
              <a:t>CSV, XLSX, PDF </a:t>
            </a:r>
            <a:r>
              <a:rPr lang="uk-UA" sz="1500" dirty="0">
                <a:solidFill>
                  <a:srgbClr val="002060"/>
                </a:solidFill>
              </a:rPr>
              <a:t>і </a:t>
            </a:r>
            <a:r>
              <a:rPr lang="en-US" sz="1500" dirty="0">
                <a:solidFill>
                  <a:srgbClr val="002060"/>
                </a:solidFill>
              </a:rPr>
              <a:t>DOCX. </a:t>
            </a:r>
            <a:r>
              <a:rPr lang="uk-UA" sz="1500" dirty="0">
                <a:solidFill>
                  <a:srgbClr val="002060"/>
                </a:solidFill>
              </a:rPr>
              <a:t>Також реалізовано зміну теми оформлення, кольорової схеми, </a:t>
            </a:r>
            <a:r>
              <a:rPr lang="uk-UA" sz="1500" dirty="0" err="1">
                <a:solidFill>
                  <a:srgbClr val="002060"/>
                </a:solidFill>
              </a:rPr>
              <a:t>аватара</a:t>
            </a:r>
            <a:r>
              <a:rPr lang="uk-UA" sz="1500" dirty="0">
                <a:solidFill>
                  <a:srgbClr val="002060"/>
                </a:solidFill>
              </a:rPr>
              <a:t>, пароля та повне видалення акаунта через </a:t>
            </a:r>
            <a:r>
              <a:rPr lang="en-US" sz="1500" dirty="0" err="1">
                <a:solidFill>
                  <a:srgbClr val="002060"/>
                </a:solidFill>
              </a:rPr>
              <a:t>Supabase</a:t>
            </a:r>
            <a:r>
              <a:rPr lang="en-US" sz="1500" dirty="0">
                <a:solidFill>
                  <a:srgbClr val="002060"/>
                </a:solidFill>
              </a:rPr>
              <a:t> Edge Function.</a:t>
            </a:r>
            <a:endParaRPr lang="uk-UA" sz="1500" dirty="0">
              <a:solidFill>
                <a:srgbClr val="002060"/>
              </a:solidFill>
            </a:endParaRPr>
          </a:p>
          <a:p>
            <a:pPr algn="just">
              <a:spcBef>
                <a:spcPts val="300"/>
              </a:spcBef>
            </a:pPr>
            <a:r>
              <a:rPr lang="uk-UA" sz="1500" dirty="0">
                <a:solidFill>
                  <a:srgbClr val="002060"/>
                </a:solidFill>
              </a:rPr>
              <a:t>Мета курсової роботи була досягнута, оскільки вебзастосунок дозволяє користувачу вводити початкові дані, отримувати результати розрахунків, зберігати їх в історії, створювати проєкти, додавати нотатки й розрахунки, користуватися довідником і формувати файли для подальшого використання. Для збереження даних було налаштовано </a:t>
            </a:r>
            <a:r>
              <a:rPr lang="en-US" sz="1500" dirty="0" err="1">
                <a:solidFill>
                  <a:srgbClr val="002060"/>
                </a:solidFill>
              </a:rPr>
              <a:t>Supabase</a:t>
            </a:r>
            <a:r>
              <a:rPr lang="en-US" sz="1500" dirty="0">
                <a:solidFill>
                  <a:srgbClr val="002060"/>
                </a:solidFill>
              </a:rPr>
              <a:t> Database, </a:t>
            </a:r>
            <a:r>
              <a:rPr lang="uk-UA" sz="1500" dirty="0">
                <a:solidFill>
                  <a:srgbClr val="002060"/>
                </a:solidFill>
              </a:rPr>
              <a:t>авторизацію користувачів і захист даних за допомогою </a:t>
            </a:r>
            <a:r>
              <a:rPr lang="en-US" sz="1500" dirty="0">
                <a:solidFill>
                  <a:srgbClr val="002060"/>
                </a:solidFill>
              </a:rPr>
              <a:t>Row Level Security.</a:t>
            </a:r>
            <a:endParaRPr lang="uk-UA" sz="1500" dirty="0">
              <a:solidFill>
                <a:srgbClr val="002060"/>
              </a:solidFill>
            </a:endParaRPr>
          </a:p>
          <a:p>
            <a:pPr algn="just">
              <a:spcBef>
                <a:spcPts val="300"/>
              </a:spcBef>
            </a:pPr>
            <a:r>
              <a:rPr lang="uk-UA" sz="1500" dirty="0">
                <a:solidFill>
                  <a:srgbClr val="002060"/>
                </a:solidFill>
              </a:rPr>
              <a:t>Практична цінність роботи полягає в тому, що застосунок може використовуватися як навчальний або допоміжний інструмент для студентів, викладачів та користувачів, які працюють із теплотехнічними формулами. Він спрощує виконання типових розрахунків, дозволяє зберігати результати та формувати матеріали для звітів або проєктної роботи.</a:t>
            </a:r>
          </a:p>
          <a:p>
            <a:pPr algn="just">
              <a:spcBef>
                <a:spcPts val="300"/>
              </a:spcBef>
            </a:pPr>
            <a:r>
              <a:rPr lang="uk-UA" sz="1500" dirty="0">
                <a:solidFill>
                  <a:srgbClr val="002060"/>
                </a:solidFill>
              </a:rPr>
              <a:t>У подальшому систему можна вдосконалити шляхом додавання нових формул, розширення довідника, покращення графіків, створення детальніших шаблонів експорту та оптимізації інтерфейсу для мобільних пристроїв. Також можливе додавання розширеної аналітики результатів і підтримки складніших теплоенергетичних розрахунків.</a:t>
            </a:r>
          </a:p>
        </p:txBody>
      </p:sp>
    </p:spTree>
    <p:extLst>
      <p:ext uri="{BB962C8B-B14F-4D97-AF65-F5344CB8AC3E}">
        <p14:creationId xmlns:p14="http://schemas.microsoft.com/office/powerpoint/2010/main" val="3912813533"/>
      </p:ext>
    </p:extLst>
  </p:cSld>
  <p:clrMapOvr>
    <a:masterClrMapping/>
  </p:clrMapOvr>
</p:sld>
</file>

<file path=ppt/theme/theme1.xml><?xml version="1.0" encoding="utf-8"?>
<a:theme xmlns:a="http://schemas.openxmlformats.org/drawingml/2006/main" name="Тема4">
  <a:themeElements>
    <a:clrScheme name="Офіс">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Офіс">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Офіс">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Тема4" id="{462375DE-8928-429B-B01E-09E2FDA995FC}" vid="{78FACF3B-D61D-4CDD-A381-200BC8A05362}"/>
    </a:ext>
  </a:extLst>
</a:theme>
</file>

<file path=docProps/app.xml><?xml version="1.0" encoding="utf-8"?>
<Properties xmlns="http://schemas.openxmlformats.org/officeDocument/2006/extended-properties" xmlns:vt="http://schemas.openxmlformats.org/officeDocument/2006/docPropsVTypes">
  <Template>Тема4</Template>
  <TotalTime>125</TotalTime>
  <Words>3003</Words>
  <Application>Microsoft Office PowerPoint</Application>
  <PresentationFormat>Широкий екран</PresentationFormat>
  <Paragraphs>212</Paragraphs>
  <Slides>16</Slides>
  <Notes>0</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16</vt:i4>
      </vt:variant>
    </vt:vector>
  </HeadingPairs>
  <TitlesOfParts>
    <vt:vector size="20" baseType="lpstr">
      <vt:lpstr>Arial</vt:lpstr>
      <vt:lpstr>Calibri</vt:lpstr>
      <vt:lpstr>Tahoma</vt:lpstr>
      <vt:lpstr>Тема4</vt:lpstr>
      <vt:lpstr> Веб калькулятор-довідник теплоенергетика Виконав: Мойсієнко Андрій Володимирович, ТВ-43 Перевірив: Голець Владислав Олександрович GitHub репозиторій https://github.com/AndriyMoisKPI/Kursova-robota-z-osnov-Veb-prohramuvannia  2026</vt:lpstr>
      <vt:lpstr>Актуальність теми </vt:lpstr>
      <vt:lpstr>Постановка задачі </vt:lpstr>
      <vt:lpstr>Аналіз предметної області </vt:lpstr>
      <vt:lpstr>Проєктування системи  </vt:lpstr>
      <vt:lpstr>Проєктування системи  </vt:lpstr>
      <vt:lpstr>Проєктування системи  </vt:lpstr>
      <vt:lpstr>Проєктування системи  </vt:lpstr>
      <vt:lpstr>Реалізація системи </vt:lpstr>
      <vt:lpstr>Реалізація системи </vt:lpstr>
      <vt:lpstr>Реалізація системи </vt:lpstr>
      <vt:lpstr>Реалізація системи </vt:lpstr>
      <vt:lpstr>Реалізація системи </vt:lpstr>
      <vt:lpstr>Тестування та верифікація </vt:lpstr>
      <vt:lpstr>Впровадження та супровід </vt:lpstr>
      <vt:lpstr>Висновки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Назва роботи  ПІБ студента, група ПІБ наукового керівника, посада  Рік захисту</dc:title>
  <dc:creator>Olha Zalevska</dc:creator>
  <cp:lastModifiedBy>Andriy Moisiienko</cp:lastModifiedBy>
  <cp:revision>9</cp:revision>
  <dcterms:created xsi:type="dcterms:W3CDTF">2024-05-18T16:47:00Z</dcterms:created>
  <dcterms:modified xsi:type="dcterms:W3CDTF">2026-05-19T17:37:16Z</dcterms:modified>
</cp:coreProperties>
</file>